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7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Oswald" panose="00000500000000000000" pitchFamily="2" charset="0"/>
      <p:regular r:id="rId19"/>
    </p:embeddedFont>
    <p:embeddedFont>
      <p:font typeface="Public Sans" panose="020B060402020202020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F7BE34-8DD6-419C-A46F-BC57F27D758B}" v="1" dt="2026-10-28T21:57:00.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42" y="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Cox" userId="ca2c674372cb9913" providerId="LiveId" clId="{0752A6AA-A3F4-4D08-A421-609C00B36616}"/>
    <pc:docChg chg="custSel addSld delSld modSld">
      <pc:chgData name="Joshua Cox" userId="ca2c674372cb9913" providerId="LiveId" clId="{0752A6AA-A3F4-4D08-A421-609C00B36616}" dt="2026-10-28T21:57:12.379" v="5" actId="47"/>
      <pc:docMkLst>
        <pc:docMk/>
      </pc:docMkLst>
      <pc:sldChg chg="del">
        <pc:chgData name="Joshua Cox" userId="ca2c674372cb9913" providerId="LiveId" clId="{0752A6AA-A3F4-4D08-A421-609C00B36616}" dt="2026-10-28T21:57:12.379" v="5" actId="47"/>
        <pc:sldMkLst>
          <pc:docMk/>
          <pc:sldMk cId="0" sldId="256"/>
        </pc:sldMkLst>
      </pc:sldChg>
      <pc:sldChg chg="addSp delSp modSp new mod modClrScheme modAnim chgLayout">
        <pc:chgData name="Joshua Cox" userId="ca2c674372cb9913" providerId="LiveId" clId="{0752A6AA-A3F4-4D08-A421-609C00B36616}" dt="2026-10-28T21:57:07.288" v="4" actId="14100"/>
        <pc:sldMkLst>
          <pc:docMk/>
          <pc:sldMk cId="4035257325" sldId="272"/>
        </pc:sldMkLst>
        <pc:spChg chg="del">
          <ac:chgData name="Joshua Cox" userId="ca2c674372cb9913" providerId="LiveId" clId="{0752A6AA-A3F4-4D08-A421-609C00B36616}" dt="2026-10-28T21:55:42.996" v="1" actId="700"/>
          <ac:spMkLst>
            <pc:docMk/>
            <pc:sldMk cId="4035257325" sldId="272"/>
            <ac:spMk id="2" creationId="{F33DE643-DF6D-4CF9-6F87-45530CB59C5B}"/>
          </ac:spMkLst>
        </pc:spChg>
        <pc:spChg chg="del">
          <ac:chgData name="Joshua Cox" userId="ca2c674372cb9913" providerId="LiveId" clId="{0752A6AA-A3F4-4D08-A421-609C00B36616}" dt="2026-10-28T21:55:42.996" v="1" actId="700"/>
          <ac:spMkLst>
            <pc:docMk/>
            <pc:sldMk cId="4035257325" sldId="272"/>
            <ac:spMk id="3" creationId="{44CE5568-859E-5505-0D37-804A4FC6AEC1}"/>
          </ac:spMkLst>
        </pc:spChg>
        <pc:picChg chg="add mod">
          <ac:chgData name="Joshua Cox" userId="ca2c674372cb9913" providerId="LiveId" clId="{0752A6AA-A3F4-4D08-A421-609C00B36616}" dt="2026-10-28T21:57:07.288" v="4" actId="14100"/>
          <ac:picMkLst>
            <pc:docMk/>
            <pc:sldMk cId="4035257325" sldId="272"/>
            <ac:picMk id="4" creationId="{DC835A76-9311-BC51-A877-FB105409055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8847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Semper SI’s transition brief. This deck accompanies the demo video and the written brief.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MCCS asked for an AI discovery experience. The core issue isn’t a lack of content; it’s finding the right, current detail for your installation and knowing what to do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what we built, how we proved it, and what we need from MCCS to take it forward.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these six, the suite covers crisis and safety, ambiguous locations like San Diego and Hawaii, non-Marine bases, misspellings, eligibility edge cases, registration requests, prompt injection, PII and OPSEC, Spanish, and multi-intent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came directly out of the failures we found in testing. Rule 2 targets the biggest failure mode: blending details from a neighboring facility or a stale page.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twin mirrors the Agent Builder build exactly, so every test result applies to the low-code deliverable. It is also the path to a containerized GovCloud deployment. Its answers are judged by Claude, a different model family from the Gemini agent.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SSgt Seth Davis built a replica of the MCCS installation website with the assistant embedded as a chat widget, connected live to our agent on GenAI.mil. The widget guesses the installation from the page and asks to confirm it, sends the installation, local date and time and language with every question, and turns the agent’s suggested follow-ups into buttons. The demo calls the API straight from the browser; in production an MCCS gateway sits in between so no credential reaches a user’s device.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Argon. For a trusted DoD tool, a wrong phone number or office costs more than a slow answer. The judge comes from a different model family than the agent; a second judge agreed on 78% of cases.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prompt change ships with a scorecard diff. False facts fell from 8 to 6, and every rubric score rose; grounded went from 4.32 to 4.68 and format from 3.95 to 4.24. The cost: v2 runs 6.8 searches per turn, so it is slower (47 s median) and costs $0.15 per conversation against $0.10. Notices First fired in 5 of 7 answers where a notice was posted.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told an Okinawa user to dial 988, which doesn’t work from a Japanese cell phone. v2 gives DSN 988 and the official Indo-Pacific, Europe and other regional numbers, and it never offers any other overseas numbers.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suite already covers what a DoW security reviewer will probe: crisis, prompt injection, PII, OPSEC and scope. v2 passed all 12 of those cases. Total evaluation spend was about $27 of a $30 budget.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 diamonds are gates. No phase starts until the gate before it is met, and safety cases must pass at 100% at every gate. Phase 1 also re-runs all 41 cases three times each.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API is the single biggest accuracy lever: it replaces scraping and stale pages, which drove most of the wrong specifics in testing.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showing these honestly. The pattern behind most failures is the model blending a stale secondary page with the current one, or borrowing a neighboring facility’s details. Structured data from the MCCS API removes most of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tools were unavailable, such as Argon missing from Agent Studio or network failures during testing, the team substituted, documented the gap and kept testing.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9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0C2340"/>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0980"/>
            <a:ext cx="10566400" cy="4074220"/>
          </a:xfrm>
          <a:prstGeom prst="rect">
            <a:avLst/>
          </a:prstGeom>
          <a:noFill/>
          <a:ln/>
        </p:spPr>
        <p:txBody>
          <a:bodyPr wrap="square" lIns="0" tIns="0" rIns="0" bIns="0" rtlCol="0" anchor="t"/>
          <a:lstStyle>
            <a:lvl1pPr marL="0" indent="0" algn="l">
              <a:lnSpc>
                <a:spcPct val="140000"/>
              </a:lnSpc>
              <a:buNone/>
              <a:defRPr lang="en-US" sz="1600" dirty="0">
                <a:solidFill>
                  <a:srgbClr val="0C234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9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0C2340"/>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0980"/>
            <a:ext cx="10566400" cy="4074220"/>
          </a:xfrm>
          <a:prstGeom prst="rect">
            <a:avLst/>
          </a:prstGeom>
          <a:noFill/>
          <a:ln/>
        </p:spPr>
        <p:txBody>
          <a:bodyPr wrap="square" lIns="0" tIns="0" rIns="0" bIns="0" rtlCol="0" anchor="t"/>
          <a:lstStyle>
            <a:lvl1pPr marL="0" indent="0" algn="l">
              <a:lnSpc>
                <a:spcPct val="140000"/>
              </a:lnSpc>
              <a:buNone/>
              <a:defRPr lang="en-US" sz="1600" dirty="0">
                <a:solidFill>
                  <a:srgbClr val="0C234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V2-rapid-fire-rev3">
            <a:hlinkClick r:id="" action="ppaction://media"/>
            <a:extLst>
              <a:ext uri="{FF2B5EF4-FFF2-40B4-BE49-F238E27FC236}">
                <a16:creationId xmlns:a16="http://schemas.microsoft.com/office/drawing/2014/main" id="{DC835A76-9311-BC51-A877-FB105409055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40352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2340"/>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C81E38"/>
          </a:solidFill>
          <a:ln/>
        </p:spPr>
        <p:txBody>
          <a:bodyPr/>
          <a:lstStyle/>
          <a:p>
            <a:endParaRPr lang="en-US"/>
          </a:p>
        </p:txBody>
      </p:sp>
      <p:sp>
        <p:nvSpPr>
          <p:cNvPr id="3" name="Shape 1"/>
          <p:cNvSpPr/>
          <p:nvPr/>
        </p:nvSpPr>
        <p:spPr>
          <a:xfrm>
            <a:off x="152400" y="0"/>
            <a:ext cx="76200" cy="6858000"/>
          </a:xfrm>
          <a:prstGeom prst="rect">
            <a:avLst/>
          </a:prstGeom>
          <a:solidFill>
            <a:srgbClr val="F5A524"/>
          </a:solidFill>
          <a:ln/>
        </p:spPr>
        <p:txBody>
          <a:bodyPr/>
          <a:lstStyle/>
          <a:p>
            <a:endParaRPr lang="en-US"/>
          </a:p>
        </p:txBody>
      </p:sp>
      <p:sp>
        <p:nvSpPr>
          <p:cNvPr id="4" name="Text 2"/>
          <p:cNvSpPr/>
          <p:nvPr/>
        </p:nvSpPr>
        <p:spPr>
          <a:xfrm>
            <a:off x="812800" y="1428155"/>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5A524"/>
                </a:solidFill>
                <a:latin typeface="Public Sans" pitchFamily="34" charset="0"/>
                <a:ea typeface="Public Sans" pitchFamily="34" charset="-122"/>
                <a:cs typeface="Public Sans" pitchFamily="34" charset="-120"/>
              </a:rPr>
              <a:t>USMC SI INNOVATION SPRINT · LOW CODE TRACK · TEAM 3</a:t>
            </a:r>
            <a:endParaRPr lang="en-US" sz="1600" dirty="0"/>
          </a:p>
        </p:txBody>
      </p:sp>
      <p:pic>
        <p:nvPicPr>
          <p:cNvPr id="5" name="Image 0" descr="Semper SI"/>
          <p:cNvPicPr>
            <a:picLocks noChangeAspect="1"/>
          </p:cNvPicPr>
          <p:nvPr/>
        </p:nvPicPr>
        <p:blipFill>
          <a:blip r:embed="rId3"/>
          <a:srcRect t="-15" b="-15"/>
          <a:stretch/>
        </p:blipFill>
        <p:spPr>
          <a:xfrm>
            <a:off x="812800" y="1966615"/>
            <a:ext cx="7302500" cy="2482850"/>
          </a:xfrm>
          <a:prstGeom prst="rect">
            <a:avLst/>
          </a:prstGeom>
        </p:spPr>
      </p:pic>
      <p:sp>
        <p:nvSpPr>
          <p:cNvPr id="6" name="Text 3"/>
          <p:cNvSpPr/>
          <p:nvPr/>
        </p:nvSpPr>
        <p:spPr>
          <a:xfrm>
            <a:off x="812800" y="4703465"/>
            <a:ext cx="9156700"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0"/>
                </a:solidFill>
                <a:latin typeface="Public Sans" pitchFamily="34" charset="0"/>
                <a:ea typeface="Public Sans" pitchFamily="34" charset="-122"/>
                <a:cs typeface="Public Sans" pitchFamily="34" charset="-120"/>
              </a:rPr>
              <a:t>An AI discovery assistant for MCCS: trusted, installation-specific answers for Marines and families, with a clear next step every time</a:t>
            </a:r>
            <a:endParaRPr lang="en-US" sz="2200" dirty="0"/>
          </a:p>
        </p:txBody>
      </p:sp>
      <p:sp>
        <p:nvSpPr>
          <p:cNvPr id="7" name="Text 4"/>
          <p:cNvSpPr/>
          <p:nvPr/>
        </p:nvSpPr>
        <p:spPr>
          <a:xfrm>
            <a:off x="812800" y="6202710"/>
            <a:ext cx="78486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0"/>
                </a:solidFill>
                <a:latin typeface="Public Sans" pitchFamily="34" charset="0"/>
                <a:ea typeface="Public Sans" pitchFamily="34" charset="-122"/>
                <a:cs typeface="Public Sans" pitchFamily="34" charset="-120"/>
              </a:rPr>
              <a:t>Transition Brief · October 2026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THE PROBLEM</a:t>
            </a:r>
            <a:endParaRPr lang="en-US" sz="1400" dirty="0"/>
          </a:p>
        </p:txBody>
      </p:sp>
      <p:sp>
        <p:nvSpPr>
          <p:cNvPr id="5" name="Text 2"/>
          <p:cNvSpPr>
            <a:spLocks noGrp="1"/>
          </p:cNvSpPr>
          <p:nvPr>
            <p:ph type="title"/>
          </p:nvPr>
        </p:nvSpPr>
        <p:spPr>
          <a:xfrm>
            <a:off x="812800" y="1163290"/>
            <a:ext cx="981075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New families can’t easily find what their installation offers</a:t>
            </a:r>
            <a:endParaRPr lang="en-US" sz="3600" dirty="0"/>
          </a:p>
        </p:txBody>
      </p:sp>
      <p:sp>
        <p:nvSpPr>
          <p:cNvPr id="6" name="Shape 3"/>
          <p:cNvSpPr/>
          <p:nvPr/>
        </p:nvSpPr>
        <p:spPr>
          <a:xfrm>
            <a:off x="812800" y="2524671"/>
            <a:ext cx="3352800" cy="2141190"/>
          </a:xfrm>
          <a:prstGeom prst="roundRect">
            <a:avLst>
              <a:gd name="adj" fmla="val 4745"/>
            </a:avLst>
          </a:prstGeom>
          <a:solidFill>
            <a:srgbClr val="FFFFFF"/>
          </a:solidFill>
          <a:ln/>
        </p:spPr>
        <p:txBody>
          <a:bodyPr/>
          <a:lstStyle/>
          <a:p>
            <a:endParaRPr lang="en-US"/>
          </a:p>
        </p:txBody>
      </p:sp>
      <p:sp>
        <p:nvSpPr>
          <p:cNvPr id="7" name="Shape 4"/>
          <p:cNvSpPr/>
          <p:nvPr/>
        </p:nvSpPr>
        <p:spPr>
          <a:xfrm>
            <a:off x="812800" y="2524671"/>
            <a:ext cx="3352800" cy="2141190"/>
          </a:xfrm>
          <a:custGeom>
            <a:avLst/>
            <a:gdLst/>
            <a:ahLst/>
            <a:cxnLst/>
            <a:rect l="l" t="t" r="r" b="b"/>
            <a:pathLst>
              <a:path w="3352800" h="2141190">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C2340"/>
          </a:solidFill>
          <a:ln/>
        </p:spPr>
        <p:txBody>
          <a:bodyPr/>
          <a:lstStyle/>
          <a:p>
            <a:endParaRPr lang="en-US"/>
          </a:p>
        </p:txBody>
      </p:sp>
      <p:sp>
        <p:nvSpPr>
          <p:cNvPr id="8" name="Text 5"/>
          <p:cNvSpPr/>
          <p:nvPr/>
        </p:nvSpPr>
        <p:spPr>
          <a:xfrm>
            <a:off x="1117600" y="2880271"/>
            <a:ext cx="282549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C2340"/>
                </a:solidFill>
                <a:latin typeface="Public Sans" pitchFamily="34" charset="0"/>
                <a:ea typeface="Public Sans" pitchFamily="34" charset="-122"/>
                <a:cs typeface="Public Sans" pitchFamily="34" charset="-120"/>
              </a:rPr>
              <a:t>Search and menus</a:t>
            </a:r>
            <a:endParaRPr lang="en-US" sz="1800" dirty="0"/>
          </a:p>
        </p:txBody>
      </p:sp>
      <p:sp>
        <p:nvSpPr>
          <p:cNvPr id="9" name="Text 6"/>
          <p:cNvSpPr/>
          <p:nvPr/>
        </p:nvSpPr>
        <p:spPr>
          <a:xfrm>
            <a:off x="1117600" y="3256161"/>
            <a:ext cx="2825496"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B5C"/>
                </a:solidFill>
                <a:latin typeface="Public Sans" pitchFamily="34" charset="0"/>
                <a:ea typeface="Public Sans" pitchFamily="34" charset="-122"/>
                <a:cs typeface="Public Sans" pitchFamily="34" charset="-120"/>
              </a:rPr>
              <a:t>Installation websites and MCCS Connect depend on knowing what to look for and where it lives.</a:t>
            </a:r>
            <a:endParaRPr lang="en-US" sz="1500" dirty="0"/>
          </a:p>
        </p:txBody>
      </p:sp>
      <p:sp>
        <p:nvSpPr>
          <p:cNvPr id="10" name="Shape 7"/>
          <p:cNvSpPr/>
          <p:nvPr/>
        </p:nvSpPr>
        <p:spPr>
          <a:xfrm>
            <a:off x="4419600" y="2524671"/>
            <a:ext cx="3352800" cy="2141190"/>
          </a:xfrm>
          <a:prstGeom prst="roundRect">
            <a:avLst>
              <a:gd name="adj" fmla="val 4745"/>
            </a:avLst>
          </a:prstGeom>
          <a:solidFill>
            <a:srgbClr val="FFFFFF"/>
          </a:solidFill>
          <a:ln/>
        </p:spPr>
        <p:txBody>
          <a:bodyPr/>
          <a:lstStyle/>
          <a:p>
            <a:endParaRPr lang="en-US"/>
          </a:p>
        </p:txBody>
      </p:sp>
      <p:sp>
        <p:nvSpPr>
          <p:cNvPr id="11" name="Shape 8"/>
          <p:cNvSpPr/>
          <p:nvPr/>
        </p:nvSpPr>
        <p:spPr>
          <a:xfrm>
            <a:off x="4419600" y="2524671"/>
            <a:ext cx="3352800" cy="2141190"/>
          </a:xfrm>
          <a:custGeom>
            <a:avLst/>
            <a:gdLst/>
            <a:ahLst/>
            <a:cxnLst/>
            <a:rect l="l" t="t" r="r" b="b"/>
            <a:pathLst>
              <a:path w="3352800" h="2141190">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C2340"/>
          </a:solidFill>
          <a:ln/>
        </p:spPr>
        <p:txBody>
          <a:bodyPr/>
          <a:lstStyle/>
          <a:p>
            <a:endParaRPr lang="en-US"/>
          </a:p>
        </p:txBody>
      </p:sp>
      <p:sp>
        <p:nvSpPr>
          <p:cNvPr id="12" name="Text 9"/>
          <p:cNvSpPr/>
          <p:nvPr/>
        </p:nvSpPr>
        <p:spPr>
          <a:xfrm>
            <a:off x="4724400" y="2880271"/>
            <a:ext cx="282549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C2340"/>
                </a:solidFill>
                <a:latin typeface="Public Sans" pitchFamily="34" charset="0"/>
                <a:ea typeface="Public Sans" pitchFamily="34" charset="-122"/>
                <a:cs typeface="Public Sans" pitchFamily="34" charset="-120"/>
              </a:rPr>
              <a:t>Unfamiliar terms</a:t>
            </a:r>
            <a:endParaRPr lang="en-US" sz="1800" dirty="0"/>
          </a:p>
        </p:txBody>
      </p:sp>
      <p:sp>
        <p:nvSpPr>
          <p:cNvPr id="13" name="Text 10"/>
          <p:cNvSpPr/>
          <p:nvPr/>
        </p:nvSpPr>
        <p:spPr>
          <a:xfrm>
            <a:off x="4724400" y="3256161"/>
            <a:ext cx="2825496"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B5C"/>
                </a:solidFill>
                <a:latin typeface="Public Sans" pitchFamily="34" charset="0"/>
                <a:ea typeface="Public Sans" pitchFamily="34" charset="-122"/>
                <a:cs typeface="Public Sans" pitchFamily="34" charset="-120"/>
              </a:rPr>
              <a:t>CDC, MFLC, EFMP, ITT: the people who most need help know the program names least.</a:t>
            </a:r>
            <a:endParaRPr lang="en-US" sz="1500" dirty="0"/>
          </a:p>
        </p:txBody>
      </p:sp>
      <p:sp>
        <p:nvSpPr>
          <p:cNvPr id="14" name="Shape 11"/>
          <p:cNvSpPr/>
          <p:nvPr/>
        </p:nvSpPr>
        <p:spPr>
          <a:xfrm>
            <a:off x="8026400" y="2524671"/>
            <a:ext cx="3352800" cy="2141190"/>
          </a:xfrm>
          <a:prstGeom prst="roundRect">
            <a:avLst>
              <a:gd name="adj" fmla="val 4745"/>
            </a:avLst>
          </a:prstGeom>
          <a:solidFill>
            <a:srgbClr val="FFFFFF"/>
          </a:solidFill>
          <a:ln/>
        </p:spPr>
        <p:txBody>
          <a:bodyPr/>
          <a:lstStyle/>
          <a:p>
            <a:endParaRPr lang="en-US"/>
          </a:p>
        </p:txBody>
      </p:sp>
      <p:sp>
        <p:nvSpPr>
          <p:cNvPr id="15" name="Shape 12"/>
          <p:cNvSpPr/>
          <p:nvPr/>
        </p:nvSpPr>
        <p:spPr>
          <a:xfrm>
            <a:off x="8026400" y="2524671"/>
            <a:ext cx="3352800" cy="2141190"/>
          </a:xfrm>
          <a:custGeom>
            <a:avLst/>
            <a:gdLst/>
            <a:ahLst/>
            <a:cxnLst/>
            <a:rect l="l" t="t" r="r" b="b"/>
            <a:pathLst>
              <a:path w="3352800" h="2141190">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C81E38"/>
          </a:solidFill>
          <a:ln/>
        </p:spPr>
        <p:txBody>
          <a:bodyPr/>
          <a:lstStyle/>
          <a:p>
            <a:endParaRPr lang="en-US"/>
          </a:p>
        </p:txBody>
      </p:sp>
      <p:sp>
        <p:nvSpPr>
          <p:cNvPr id="16" name="Text 13"/>
          <p:cNvSpPr/>
          <p:nvPr/>
        </p:nvSpPr>
        <p:spPr>
          <a:xfrm>
            <a:off x="8331200" y="2880271"/>
            <a:ext cx="282549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C2340"/>
                </a:solidFill>
                <a:latin typeface="Public Sans" pitchFamily="34" charset="0"/>
                <a:ea typeface="Public Sans" pitchFamily="34" charset="-122"/>
                <a:cs typeface="Public Sans" pitchFamily="34" charset="-120"/>
              </a:rPr>
              <a:t>Details that drift</a:t>
            </a:r>
            <a:endParaRPr lang="en-US" sz="1800" dirty="0"/>
          </a:p>
        </p:txBody>
      </p:sp>
      <p:sp>
        <p:nvSpPr>
          <p:cNvPr id="17" name="Text 14"/>
          <p:cNvSpPr/>
          <p:nvPr/>
        </p:nvSpPr>
        <p:spPr>
          <a:xfrm>
            <a:off x="8331200" y="3256161"/>
            <a:ext cx="2825496"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B5C"/>
                </a:solidFill>
                <a:latin typeface="Public Sans" pitchFamily="34" charset="0"/>
                <a:ea typeface="Public Sans" pitchFamily="34" charset="-122"/>
                <a:cs typeface="Public Sans" pitchFamily="34" charset="-120"/>
              </a:rPr>
              <a:t>Hours, phones, eligibility and registration dates change, and pages often disagree.</a:t>
            </a:r>
            <a:endParaRPr lang="en-US" sz="1500" dirty="0"/>
          </a:p>
        </p:txBody>
      </p:sp>
      <p:sp>
        <p:nvSpPr>
          <p:cNvPr id="18" name="Text 1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19" name="Text 16"/>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BOTTOM LINE UP FRONT</a:t>
            </a:r>
            <a:endParaRPr lang="en-US" sz="1400" dirty="0"/>
          </a:p>
        </p:txBody>
      </p:sp>
      <p:sp>
        <p:nvSpPr>
          <p:cNvPr id="5" name="Text 2"/>
          <p:cNvSpPr>
            <a:spLocks noGrp="1"/>
          </p:cNvSpPr>
          <p:nvPr>
            <p:ph type="title"/>
          </p:nvPr>
        </p:nvSpPr>
        <p:spPr>
          <a:xfrm>
            <a:off x="812800" y="1163290"/>
            <a:ext cx="1046480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A low-code assistant that answers from official MCCS pages and always gives a next step</a:t>
            </a:r>
            <a:endParaRPr lang="en-US" sz="3600" dirty="0"/>
          </a:p>
        </p:txBody>
      </p:sp>
      <p:sp>
        <p:nvSpPr>
          <p:cNvPr id="6" name="Text 3"/>
          <p:cNvSpPr/>
          <p:nvPr/>
        </p:nvSpPr>
        <p:spPr>
          <a:xfrm>
            <a:off x="812800" y="2473871"/>
            <a:ext cx="3278937"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C81E38"/>
                </a:solidFill>
                <a:latin typeface="Public Sans" pitchFamily="34" charset="0"/>
                <a:ea typeface="Public Sans" pitchFamily="34" charset="-122"/>
                <a:cs typeface="Public Sans" pitchFamily="34" charset="-120"/>
              </a:rPr>
              <a:t>BUILT</a:t>
            </a:r>
            <a:endParaRPr lang="en-US" sz="1300" dirty="0"/>
          </a:p>
        </p:txBody>
      </p:sp>
      <p:sp>
        <p:nvSpPr>
          <p:cNvPr id="7" name="Text 4"/>
          <p:cNvSpPr/>
          <p:nvPr/>
        </p:nvSpPr>
        <p:spPr>
          <a:xfrm>
            <a:off x="812800" y="2781201"/>
            <a:ext cx="3278937"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0C2340"/>
                </a:solidFill>
                <a:latin typeface="Public Sans" pitchFamily="34" charset="0"/>
                <a:ea typeface="Public Sans" pitchFamily="34" charset="-122"/>
                <a:cs typeface="Public Sans" pitchFamily="34" charset="-120"/>
              </a:rPr>
              <a:t>GenAI.mil Agent Builder agent with a governed prompt and a strict source hierarchy</a:t>
            </a:r>
            <a:endParaRPr lang="en-US" sz="1500" dirty="0"/>
          </a:p>
        </p:txBody>
      </p:sp>
      <p:sp>
        <p:nvSpPr>
          <p:cNvPr id="8" name="Text 5"/>
          <p:cNvSpPr/>
          <p:nvPr/>
        </p:nvSpPr>
        <p:spPr>
          <a:xfrm>
            <a:off x="4250234" y="2473871"/>
            <a:ext cx="3278988"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C81E38"/>
                </a:solidFill>
                <a:latin typeface="Public Sans" pitchFamily="34" charset="0"/>
                <a:ea typeface="Public Sans" pitchFamily="34" charset="-122"/>
                <a:cs typeface="Public Sans" pitchFamily="34" charset="-120"/>
              </a:rPr>
              <a:t>PROVEN</a:t>
            </a:r>
            <a:endParaRPr lang="en-US" sz="1300" dirty="0"/>
          </a:p>
        </p:txBody>
      </p:sp>
      <p:sp>
        <p:nvSpPr>
          <p:cNvPr id="9" name="Text 6"/>
          <p:cNvSpPr/>
          <p:nvPr/>
        </p:nvSpPr>
        <p:spPr>
          <a:xfrm>
            <a:off x="4250234" y="2781201"/>
            <a:ext cx="3278988"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0C2340"/>
                </a:solidFill>
                <a:latin typeface="Public Sans" pitchFamily="34" charset="0"/>
                <a:ea typeface="Public Sans" pitchFamily="34" charset="-122"/>
                <a:cs typeface="Public Sans" pitchFamily="34" charset="-120"/>
              </a:rPr>
              <a:t>Code twin plus a 41-case test suite; v2 passes 37 of 41 (90%) and all 12 safety, scope and security cases</a:t>
            </a:r>
            <a:endParaRPr lang="en-US" sz="1500" dirty="0"/>
          </a:p>
        </p:txBody>
      </p:sp>
      <p:sp>
        <p:nvSpPr>
          <p:cNvPr id="10" name="Shape 7"/>
          <p:cNvSpPr/>
          <p:nvPr/>
        </p:nvSpPr>
        <p:spPr>
          <a:xfrm>
            <a:off x="7687717" y="2473871"/>
            <a:ext cx="3691483" cy="1367780"/>
          </a:xfrm>
          <a:prstGeom prst="roundRect">
            <a:avLst>
              <a:gd name="adj" fmla="val 7428"/>
            </a:avLst>
          </a:prstGeom>
          <a:solidFill>
            <a:srgbClr val="0C2340"/>
          </a:solidFill>
          <a:ln/>
        </p:spPr>
        <p:txBody>
          <a:bodyPr/>
          <a:lstStyle/>
          <a:p>
            <a:endParaRPr lang="en-US"/>
          </a:p>
        </p:txBody>
      </p:sp>
      <p:sp>
        <p:nvSpPr>
          <p:cNvPr id="11" name="Text 8"/>
          <p:cNvSpPr/>
          <p:nvPr/>
        </p:nvSpPr>
        <p:spPr>
          <a:xfrm>
            <a:off x="7941717" y="2727871"/>
            <a:ext cx="3278988"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5A524"/>
                </a:solidFill>
                <a:latin typeface="Public Sans" pitchFamily="34" charset="0"/>
                <a:ea typeface="Public Sans" pitchFamily="34" charset="-122"/>
                <a:cs typeface="Public Sans" pitchFamily="34" charset="-120"/>
              </a:rPr>
              <a:t>WE ASK MCCS FOR</a:t>
            </a:r>
            <a:endParaRPr lang="en-US" sz="1300" dirty="0"/>
          </a:p>
        </p:txBody>
      </p:sp>
      <p:sp>
        <p:nvSpPr>
          <p:cNvPr id="12" name="Text 9"/>
          <p:cNvSpPr/>
          <p:nvPr/>
        </p:nvSpPr>
        <p:spPr>
          <a:xfrm>
            <a:off x="7941717" y="3035201"/>
            <a:ext cx="3278988"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7F4EC"/>
                </a:solidFill>
                <a:latin typeface="Public Sans" pitchFamily="34" charset="0"/>
                <a:ea typeface="Public Sans" pitchFamily="34" charset="-122"/>
                <a:cs typeface="Public Sans" pitchFamily="34" charset="-120"/>
              </a:rPr>
              <a:t>A pilot installation, content API access and a content owner</a:t>
            </a:r>
            <a:endParaRPr lang="en-US" sz="1500" dirty="0"/>
          </a:p>
        </p:txBody>
      </p:sp>
      <p:sp>
        <p:nvSpPr>
          <p:cNvPr id="13" name="Text 10"/>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14" name="Text 11"/>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MISSION IMPACT</a:t>
            </a:r>
            <a:endParaRPr lang="en-US" sz="1400" dirty="0"/>
          </a:p>
        </p:txBody>
      </p:sp>
      <p:sp>
        <p:nvSpPr>
          <p:cNvPr id="5" name="Text 2"/>
          <p:cNvSpPr>
            <a:spLocks noGrp="1"/>
          </p:cNvSpPr>
          <p:nvPr>
            <p:ph type="title"/>
          </p:nvPr>
        </p:nvSpPr>
        <p:spPr>
          <a:xfrm>
            <a:off x="812800" y="11632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All six MCCS journeys, tested across installations</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32880"/>
          <a:ext cx="10553700" cy="2515245"/>
        </p:xfrm>
        <a:graphic>
          <a:graphicData uri="http://schemas.openxmlformats.org/drawingml/2006/table">
            <a:tbl>
              <a:tblPr/>
              <a:tblGrid>
                <a:gridCol w="1899666">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F7F4EC"/>
                          </a:solidFill>
                          <a:latin typeface="Public Sans" pitchFamily="34" charset="0"/>
                          <a:ea typeface="Public Sans" pitchFamily="34" charset="-122"/>
                          <a:cs typeface="Public Sans" pitchFamily="34" charset="-120"/>
                        </a:rPr>
                        <a:t>Journey</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tc>
                  <a:txBody>
                    <a:bodyPr/>
                    <a:lstStyle/>
                    <a:p>
                      <a:pPr marL="0" indent="0">
                        <a:lnSpc>
                          <a:spcPts val="1820"/>
                        </a:lnSpc>
                        <a:buNone/>
                      </a:pPr>
                      <a:r>
                        <a:rPr lang="en-US" sz="1300" b="1" dirty="0">
                          <a:solidFill>
                            <a:srgbClr val="F7F4EC"/>
                          </a:solidFill>
                          <a:latin typeface="Public Sans" pitchFamily="34" charset="0"/>
                          <a:ea typeface="Public Sans" pitchFamily="34" charset="-122"/>
                          <a:cs typeface="Public Sans" pitchFamily="34" charset="-120"/>
                        </a:rPr>
                        <a:t>What the assistant does</a:t>
                      </a:r>
                      <a:endParaRPr lang="en-US" sz="1300" dirty="0">
                        <a:latin typeface="Public Sans" charset="0"/>
                        <a:ea typeface="Public Sans" charset="0"/>
                        <a:cs typeface="Public Sans" charset="0"/>
                      </a:endParaRPr>
                    </a:p>
                  </a:txBody>
                  <a:tcPr marL="57785" marR="57785" marT="57785" marB="57785">
                    <a:lnL w="12700" cap="flat" cmpd="sng" algn="ctr">
                      <a:solidFill>
                        <a:srgbClr val="0E2036"/>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tc>
                  <a:txBody>
                    <a:bodyPr/>
                    <a:lstStyle/>
                    <a:p>
                      <a:pPr marL="0" indent="0">
                        <a:lnSpc>
                          <a:spcPts val="1820"/>
                        </a:lnSpc>
                        <a:buNone/>
                      </a:pPr>
                      <a:r>
                        <a:rPr lang="en-US" sz="1300" b="1" dirty="0">
                          <a:solidFill>
                            <a:srgbClr val="F7F4EC"/>
                          </a:solidFill>
                          <a:latin typeface="Public Sans" pitchFamily="34" charset="0"/>
                          <a:ea typeface="Public Sans" pitchFamily="34" charset="-122"/>
                          <a:cs typeface="Public Sans" pitchFamily="34" charset="-120"/>
                        </a:rPr>
                        <a:t>Tested at</a:t>
                      </a:r>
                      <a:endParaRPr lang="en-US" sz="1300" dirty="0">
                        <a:latin typeface="Public Sans" charset="0"/>
                        <a:ea typeface="Public Sans" charset="0"/>
                        <a:cs typeface="Public Sans" charset="0"/>
                      </a:endParaRPr>
                    </a:p>
                  </a:txBody>
                  <a:tcPr marL="57785" marR="57785" marT="57785" marB="57785">
                    <a:lnL w="12700" cap="flat" cmpd="sng" algn="ctr">
                      <a:solidFill>
                        <a:srgbClr val="0E2036"/>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Counseling</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Crisis line and universal resources first, then local options</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Lejeune, Okinawa</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Childcare</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MilitaryChildCare.com now, then local CDC details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Quantico, Pendleton</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Fitness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Facilities, classes, published hours, current schedule</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Pendleton, 29 Palms</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Youth sports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Published dates, or “not currently published” plus the link</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Miramar, Lejeune</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Orientation</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Only published brief dates, each with its registration page</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Pendleton, K-Bay</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Retail</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MCX online and The Marine Shop, then local exchange</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Quantico</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8" name="Text 4"/>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TRUSTED RESPONSES</a:t>
            </a:r>
            <a:endParaRPr lang="en-US" sz="1400" dirty="0"/>
          </a:p>
        </p:txBody>
      </p:sp>
      <p:sp>
        <p:nvSpPr>
          <p:cNvPr id="5" name="Text 2"/>
          <p:cNvSpPr>
            <a:spLocks noGrp="1"/>
          </p:cNvSpPr>
          <p:nvPr>
            <p:ph type="title"/>
          </p:nvPr>
        </p:nvSpPr>
        <p:spPr>
          <a:xfrm>
            <a:off x="812800" y="11632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Five rules keep every answer grounded</a:t>
            </a:r>
            <a:endParaRPr lang="en-US" sz="3600" dirty="0"/>
          </a:p>
        </p:txBody>
      </p:sp>
      <p:sp>
        <p:nvSpPr>
          <p:cNvPr id="6" name="Text 3"/>
          <p:cNvSpPr/>
          <p:nvPr/>
        </p:nvSpPr>
        <p:spPr>
          <a:xfrm>
            <a:off x="812800" y="1920180"/>
            <a:ext cx="4064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E38"/>
                </a:solidFill>
                <a:latin typeface="Oswald" pitchFamily="34" charset="0"/>
                <a:ea typeface="Oswald" pitchFamily="34" charset="-122"/>
                <a:cs typeface="Oswald" pitchFamily="34" charset="-120"/>
              </a:rPr>
              <a:t>1</a:t>
            </a:r>
            <a:endParaRPr lang="en-US" sz="2200" dirty="0"/>
          </a:p>
        </p:txBody>
      </p:sp>
      <p:sp>
        <p:nvSpPr>
          <p:cNvPr id="7" name="Text 4"/>
          <p:cNvSpPr/>
          <p:nvPr/>
        </p:nvSpPr>
        <p:spPr>
          <a:xfrm>
            <a:off x="1371600" y="1987153"/>
            <a:ext cx="10820400"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C2340"/>
                </a:solidFill>
                <a:latin typeface="Public Sans" pitchFamily="34" charset="0"/>
                <a:ea typeface="Public Sans" pitchFamily="34" charset="-122"/>
                <a:cs typeface="Public Sans" pitchFamily="34" charset="-120"/>
              </a:rPr>
              <a:t>Source hierarchy:</a:t>
            </a:r>
            <a:r>
              <a:rPr lang="en-US" sz="1500" dirty="0">
                <a:solidFill>
                  <a:srgbClr val="0C2340"/>
                </a:solidFill>
                <a:latin typeface="Public Sans" pitchFamily="34" charset="0"/>
                <a:ea typeface="Public Sans" pitchFamily="34" charset="-122"/>
                <a:cs typeface="Public Sans" pitchFamily="34" charset="-120"/>
              </a:rPr>
              <a:t> the installation’s usmc-mccs.org subsite, then .mil, then third-party with a disclaimer</a:t>
            </a:r>
            <a:endParaRPr lang="en-US" sz="1500" dirty="0"/>
          </a:p>
        </p:txBody>
      </p:sp>
      <p:sp>
        <p:nvSpPr>
          <p:cNvPr id="8" name="Text 5"/>
          <p:cNvSpPr/>
          <p:nvPr/>
        </p:nvSpPr>
        <p:spPr>
          <a:xfrm>
            <a:off x="812800" y="2438301"/>
            <a:ext cx="4064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E38"/>
                </a:solidFill>
                <a:latin typeface="Oswald" pitchFamily="34" charset="0"/>
                <a:ea typeface="Oswald" pitchFamily="34" charset="-122"/>
                <a:cs typeface="Oswald" pitchFamily="34" charset="-120"/>
              </a:rPr>
              <a:t>2</a:t>
            </a:r>
            <a:endParaRPr lang="en-US" sz="2200" dirty="0"/>
          </a:p>
        </p:txBody>
      </p:sp>
      <p:sp>
        <p:nvSpPr>
          <p:cNvPr id="9" name="Text 6"/>
          <p:cNvSpPr/>
          <p:nvPr/>
        </p:nvSpPr>
        <p:spPr>
          <a:xfrm>
            <a:off x="1371600" y="2505273"/>
            <a:ext cx="10107751"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C2340"/>
                </a:solidFill>
                <a:latin typeface="Public Sans" pitchFamily="34" charset="0"/>
                <a:ea typeface="Public Sans" pitchFamily="34" charset="-122"/>
                <a:cs typeface="Public Sans" pitchFamily="34" charset="-120"/>
              </a:rPr>
              <a:t>Exact details:</a:t>
            </a:r>
            <a:r>
              <a:rPr lang="en-US" sz="1500" dirty="0">
                <a:solidFill>
                  <a:srgbClr val="0C2340"/>
                </a:solidFill>
                <a:latin typeface="Public Sans" pitchFamily="34" charset="0"/>
                <a:ea typeface="Public Sans" pitchFamily="34" charset="-122"/>
                <a:cs typeface="Public Sans" pitchFamily="34" charset="-120"/>
              </a:rPr>
              <a:t> hours, phones, rooms, fees and dates only if retrieved for that facility at that base</a:t>
            </a:r>
            <a:endParaRPr lang="en-US" sz="1500" dirty="0"/>
          </a:p>
        </p:txBody>
      </p:sp>
      <p:sp>
        <p:nvSpPr>
          <p:cNvPr id="10" name="Text 7"/>
          <p:cNvSpPr/>
          <p:nvPr/>
        </p:nvSpPr>
        <p:spPr>
          <a:xfrm>
            <a:off x="812800" y="2956421"/>
            <a:ext cx="4064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E38"/>
                </a:solidFill>
                <a:latin typeface="Oswald" pitchFamily="34" charset="0"/>
                <a:ea typeface="Oswald" pitchFamily="34" charset="-122"/>
                <a:cs typeface="Oswald" pitchFamily="34" charset="-120"/>
              </a:rPr>
              <a:t>3</a:t>
            </a:r>
            <a:endParaRPr lang="en-US" sz="2200" dirty="0"/>
          </a:p>
        </p:txBody>
      </p:sp>
      <p:sp>
        <p:nvSpPr>
          <p:cNvPr id="11" name="Text 8"/>
          <p:cNvSpPr/>
          <p:nvPr/>
        </p:nvSpPr>
        <p:spPr>
          <a:xfrm>
            <a:off x="1371600" y="3023394"/>
            <a:ext cx="7924860"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C2340"/>
                </a:solidFill>
                <a:latin typeface="Public Sans" pitchFamily="34" charset="0"/>
                <a:ea typeface="Public Sans" pitchFamily="34" charset="-122"/>
                <a:cs typeface="Public Sans" pitchFamily="34" charset="-120"/>
              </a:rPr>
              <a:t>Notices first:</a:t>
            </a:r>
            <a:r>
              <a:rPr lang="en-US" sz="1500" dirty="0">
                <a:solidFill>
                  <a:srgbClr val="0C2340"/>
                </a:solidFill>
                <a:latin typeface="Public Sans" pitchFamily="34" charset="0"/>
                <a:ea typeface="Public Sans" pitchFamily="34" charset="-122"/>
                <a:cs typeface="Public Sans" pitchFamily="34" charset="-120"/>
              </a:rPr>
              <a:t> posted outages, closures and adjusted hours lead the answer</a:t>
            </a:r>
            <a:endParaRPr lang="en-US" sz="1500" dirty="0"/>
          </a:p>
        </p:txBody>
      </p:sp>
      <p:sp>
        <p:nvSpPr>
          <p:cNvPr id="12" name="Text 9"/>
          <p:cNvSpPr/>
          <p:nvPr/>
        </p:nvSpPr>
        <p:spPr>
          <a:xfrm>
            <a:off x="812800" y="3474541"/>
            <a:ext cx="4064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E38"/>
                </a:solidFill>
                <a:latin typeface="Oswald" pitchFamily="34" charset="0"/>
                <a:ea typeface="Oswald" pitchFamily="34" charset="-122"/>
                <a:cs typeface="Oswald" pitchFamily="34" charset="-120"/>
              </a:rPr>
              <a:t>4</a:t>
            </a:r>
            <a:endParaRPr lang="en-US" sz="2200" dirty="0"/>
          </a:p>
        </p:txBody>
      </p:sp>
      <p:sp>
        <p:nvSpPr>
          <p:cNvPr id="13" name="Text 10"/>
          <p:cNvSpPr/>
          <p:nvPr/>
        </p:nvSpPr>
        <p:spPr>
          <a:xfrm>
            <a:off x="1371600" y="3541514"/>
            <a:ext cx="8289905"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C2340"/>
                </a:solidFill>
                <a:latin typeface="Public Sans" pitchFamily="34" charset="0"/>
                <a:ea typeface="Public Sans" pitchFamily="34" charset="-122"/>
                <a:cs typeface="Public Sans" pitchFamily="34" charset="-120"/>
              </a:rPr>
              <a:t>Deep links only:</a:t>
            </a:r>
            <a:r>
              <a:rPr lang="en-US" sz="1500" dirty="0">
                <a:solidFill>
                  <a:srgbClr val="0C2340"/>
                </a:solidFill>
                <a:latin typeface="Public Sans" pitchFamily="34" charset="0"/>
                <a:ea typeface="Public Sans" pitchFamily="34" charset="-122"/>
                <a:cs typeface="Public Sans" pitchFamily="34" charset="-120"/>
              </a:rPr>
              <a:t> opaque redirect URLs resolved in code to the real MCCS page</a:t>
            </a:r>
            <a:endParaRPr lang="en-US" sz="1500" dirty="0"/>
          </a:p>
        </p:txBody>
      </p:sp>
      <p:sp>
        <p:nvSpPr>
          <p:cNvPr id="14" name="Text 11"/>
          <p:cNvSpPr/>
          <p:nvPr/>
        </p:nvSpPr>
        <p:spPr>
          <a:xfrm>
            <a:off x="812800" y="3992662"/>
            <a:ext cx="4064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E38"/>
                </a:solidFill>
                <a:latin typeface="Oswald" pitchFamily="34" charset="0"/>
                <a:ea typeface="Oswald" pitchFamily="34" charset="-122"/>
                <a:cs typeface="Oswald" pitchFamily="34" charset="-120"/>
              </a:rPr>
              <a:t>5</a:t>
            </a:r>
            <a:endParaRPr lang="en-US" sz="2200" dirty="0"/>
          </a:p>
        </p:txBody>
      </p:sp>
      <p:sp>
        <p:nvSpPr>
          <p:cNvPr id="15" name="Text 12"/>
          <p:cNvSpPr/>
          <p:nvPr/>
        </p:nvSpPr>
        <p:spPr>
          <a:xfrm>
            <a:off x="1371600" y="4059634"/>
            <a:ext cx="7158038"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C2340"/>
                </a:solidFill>
                <a:latin typeface="Public Sans" pitchFamily="34" charset="0"/>
                <a:ea typeface="Public Sans" pitchFamily="34" charset="-122"/>
                <a:cs typeface="Public Sans" pitchFamily="34" charset="-120"/>
              </a:rPr>
              <a:t>Say what’s missing:</a:t>
            </a:r>
            <a:r>
              <a:rPr lang="en-US" sz="1500" dirty="0">
                <a:solidFill>
                  <a:srgbClr val="0C2340"/>
                </a:solidFill>
                <a:latin typeface="Public Sans" pitchFamily="34" charset="0"/>
                <a:ea typeface="Public Sans" pitchFamily="34" charset="-122"/>
                <a:cs typeface="Public Sans" pitchFamily="34" charset="-120"/>
              </a:rPr>
              <a:t> “not currently published,” plus who can confirm</a:t>
            </a:r>
            <a:endParaRPr lang="en-US" sz="1500" dirty="0"/>
          </a:p>
        </p:txBody>
      </p:sp>
      <p:sp>
        <p:nvSpPr>
          <p:cNvPr id="16" name="Text 1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17" name="Text 14"/>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TECHNICAL INNOVATION</a:t>
            </a:r>
            <a:endParaRPr lang="en-US" sz="1400" dirty="0"/>
          </a:p>
        </p:txBody>
      </p:sp>
      <p:sp>
        <p:nvSpPr>
          <p:cNvPr id="5" name="Text 2"/>
          <p:cNvSpPr>
            <a:spLocks noGrp="1"/>
          </p:cNvSpPr>
          <p:nvPr>
            <p:ph type="title"/>
          </p:nvPr>
        </p:nvSpPr>
        <p:spPr>
          <a:xfrm>
            <a:off x="812800" y="11632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One prompt, two synchronized builds</a:t>
            </a:r>
            <a:endParaRPr lang="en-US" sz="3600" dirty="0"/>
          </a:p>
        </p:txBody>
      </p:sp>
      <p:sp>
        <p:nvSpPr>
          <p:cNvPr id="6" name="Shape 3"/>
          <p:cNvSpPr/>
          <p:nvPr/>
        </p:nvSpPr>
        <p:spPr>
          <a:xfrm>
            <a:off x="812800" y="1970980"/>
            <a:ext cx="5156200" cy="1790551"/>
          </a:xfrm>
          <a:prstGeom prst="roundRect">
            <a:avLst>
              <a:gd name="adj" fmla="val 5674"/>
            </a:avLst>
          </a:prstGeom>
          <a:solidFill>
            <a:srgbClr val="FFFFFF"/>
          </a:solidFill>
          <a:ln/>
        </p:spPr>
        <p:txBody>
          <a:bodyPr/>
          <a:lstStyle/>
          <a:p>
            <a:endParaRPr lang="en-US"/>
          </a:p>
        </p:txBody>
      </p:sp>
      <p:sp>
        <p:nvSpPr>
          <p:cNvPr id="7" name="Shape 4"/>
          <p:cNvSpPr/>
          <p:nvPr/>
        </p:nvSpPr>
        <p:spPr>
          <a:xfrm>
            <a:off x="812800" y="1970980"/>
            <a:ext cx="5156200" cy="1790551"/>
          </a:xfrm>
          <a:custGeom>
            <a:avLst/>
            <a:gdLst/>
            <a:ahLst/>
            <a:cxnLst/>
            <a:rect l="l" t="t" r="r" b="b"/>
            <a:pathLst>
              <a:path w="5156200" h="1790551">
                <a:moveTo>
                  <a:pt x="0" y="101600"/>
                </a:moveTo>
                <a:lnTo>
                  <a:pt x="0" y="101600"/>
                </a:lnTo>
                <a:arcTo wR="101600" hR="101600" stAng="10800000" swAng="5400000"/>
                <a:lnTo>
                  <a:pt x="5054600" y="0"/>
                </a:lnTo>
                <a:arcTo wR="101600" hR="101600" stAng="16200000" swAng="5400000"/>
                <a:lnTo>
                  <a:pt x="5156200" y="101600"/>
                </a:lnTo>
                <a:arcTo wR="101600" hR="50800" stAng="0" swAng="-5400000"/>
                <a:lnTo>
                  <a:pt x="101600" y="50800"/>
                </a:lnTo>
                <a:arcTo wR="101600" hR="50800" stAng="16200000" swAng="-5400000"/>
                <a:close/>
              </a:path>
            </a:pathLst>
          </a:custGeom>
          <a:solidFill>
            <a:srgbClr val="0C2340"/>
          </a:solidFill>
          <a:ln/>
        </p:spPr>
        <p:txBody>
          <a:bodyPr/>
          <a:lstStyle/>
          <a:p>
            <a:endParaRPr lang="en-US"/>
          </a:p>
        </p:txBody>
      </p:sp>
      <p:sp>
        <p:nvSpPr>
          <p:cNvPr id="8" name="Text 5"/>
          <p:cNvSpPr/>
          <p:nvPr/>
        </p:nvSpPr>
        <p:spPr>
          <a:xfrm>
            <a:off x="1092200" y="2301180"/>
            <a:ext cx="473532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A6676"/>
                </a:solidFill>
                <a:latin typeface="Public Sans" pitchFamily="34" charset="0"/>
                <a:ea typeface="Public Sans" pitchFamily="34" charset="-122"/>
                <a:cs typeface="Public Sans" pitchFamily="34" charset="-120"/>
              </a:rPr>
              <a:t>ORIGINAL</a:t>
            </a:r>
            <a:endParaRPr lang="en-US" sz="1200" dirty="0"/>
          </a:p>
        </p:txBody>
      </p:sp>
      <p:sp>
        <p:nvSpPr>
          <p:cNvPr id="9" name="Text 6"/>
          <p:cNvSpPr/>
          <p:nvPr/>
        </p:nvSpPr>
        <p:spPr>
          <a:xfrm>
            <a:off x="1092200" y="2603401"/>
            <a:ext cx="473532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C2340"/>
                </a:solidFill>
                <a:latin typeface="Public Sans" pitchFamily="34" charset="0"/>
                <a:ea typeface="Public Sans" pitchFamily="34" charset="-122"/>
                <a:cs typeface="Public Sans" pitchFamily="34" charset="-120"/>
              </a:rPr>
              <a:t>GenAI.mil Agent Builder</a:t>
            </a:r>
            <a:endParaRPr lang="en-US" sz="1800" dirty="0"/>
          </a:p>
        </p:txBody>
      </p:sp>
      <p:sp>
        <p:nvSpPr>
          <p:cNvPr id="10" name="Text 7"/>
          <p:cNvSpPr/>
          <p:nvPr/>
        </p:nvSpPr>
        <p:spPr>
          <a:xfrm>
            <a:off x="1092200" y="2966591"/>
            <a:ext cx="473532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B5C"/>
                </a:solidFill>
                <a:latin typeface="Public Sans" pitchFamily="34" charset="0"/>
                <a:ea typeface="Public Sans" pitchFamily="34" charset="-122"/>
                <a:cs typeface="Public Sans" pitchFamily="34" charset="-120"/>
              </a:rPr>
              <a:t>Gemini 4 Argon with Enterprise Web Search. The low-code deliverable.</a:t>
            </a:r>
            <a:endParaRPr lang="en-US" sz="1400" dirty="0"/>
          </a:p>
        </p:txBody>
      </p:sp>
      <p:sp>
        <p:nvSpPr>
          <p:cNvPr id="11" name="Shape 8"/>
          <p:cNvSpPr/>
          <p:nvPr/>
        </p:nvSpPr>
        <p:spPr>
          <a:xfrm>
            <a:off x="6223000" y="1970980"/>
            <a:ext cx="5156200" cy="1790551"/>
          </a:xfrm>
          <a:prstGeom prst="roundRect">
            <a:avLst>
              <a:gd name="adj" fmla="val 5674"/>
            </a:avLst>
          </a:prstGeom>
          <a:solidFill>
            <a:srgbClr val="0C2340"/>
          </a:solidFill>
          <a:ln/>
        </p:spPr>
        <p:txBody>
          <a:bodyPr/>
          <a:lstStyle/>
          <a:p>
            <a:endParaRPr lang="en-US"/>
          </a:p>
        </p:txBody>
      </p:sp>
      <p:sp>
        <p:nvSpPr>
          <p:cNvPr id="12" name="Shape 9"/>
          <p:cNvSpPr/>
          <p:nvPr/>
        </p:nvSpPr>
        <p:spPr>
          <a:xfrm>
            <a:off x="6223000" y="1970980"/>
            <a:ext cx="5156200" cy="1790551"/>
          </a:xfrm>
          <a:custGeom>
            <a:avLst/>
            <a:gdLst/>
            <a:ahLst/>
            <a:cxnLst/>
            <a:rect l="l" t="t" r="r" b="b"/>
            <a:pathLst>
              <a:path w="5156200" h="1790551">
                <a:moveTo>
                  <a:pt x="0" y="101600"/>
                </a:moveTo>
                <a:lnTo>
                  <a:pt x="0" y="101600"/>
                </a:lnTo>
                <a:arcTo wR="101600" hR="101600" stAng="10800000" swAng="5400000"/>
                <a:lnTo>
                  <a:pt x="5054600" y="0"/>
                </a:lnTo>
                <a:arcTo wR="101600" hR="101600" stAng="16200000" swAng="5400000"/>
                <a:lnTo>
                  <a:pt x="5156200" y="101600"/>
                </a:lnTo>
                <a:arcTo wR="101600" hR="50800" stAng="0" swAng="-5400000"/>
                <a:lnTo>
                  <a:pt x="101600" y="50800"/>
                </a:lnTo>
                <a:arcTo wR="101600" hR="50800" stAng="16200000" swAng="-5400000"/>
                <a:close/>
              </a:path>
            </a:pathLst>
          </a:custGeom>
          <a:solidFill>
            <a:srgbClr val="F5A524"/>
          </a:solidFill>
          <a:ln/>
        </p:spPr>
        <p:txBody>
          <a:bodyPr/>
          <a:lstStyle/>
          <a:p>
            <a:endParaRPr lang="en-US"/>
          </a:p>
        </p:txBody>
      </p:sp>
      <p:sp>
        <p:nvSpPr>
          <p:cNvPr id="13" name="Text 10"/>
          <p:cNvSpPr/>
          <p:nvPr/>
        </p:nvSpPr>
        <p:spPr>
          <a:xfrm>
            <a:off x="6502400" y="2301180"/>
            <a:ext cx="473532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Public Sans" pitchFamily="34" charset="0"/>
                <a:ea typeface="Public Sans" pitchFamily="34" charset="-122"/>
                <a:cs typeface="Public Sans" pitchFamily="34" charset="-120"/>
              </a:rPr>
              <a:t>CODE TWIN</a:t>
            </a:r>
            <a:endParaRPr lang="en-US" sz="1200" dirty="0"/>
          </a:p>
        </p:txBody>
      </p:sp>
      <p:sp>
        <p:nvSpPr>
          <p:cNvPr id="14" name="Text 11"/>
          <p:cNvSpPr/>
          <p:nvPr/>
        </p:nvSpPr>
        <p:spPr>
          <a:xfrm>
            <a:off x="6502400" y="2603401"/>
            <a:ext cx="473532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7F4EC"/>
                </a:solidFill>
                <a:latin typeface="Public Sans" pitchFamily="34" charset="0"/>
                <a:ea typeface="Public Sans" pitchFamily="34" charset="-122"/>
                <a:cs typeface="Public Sans" pitchFamily="34" charset="-120"/>
              </a:rPr>
              <a:t>Google ADK agent</a:t>
            </a:r>
            <a:endParaRPr lang="en-US" sz="1800" dirty="0"/>
          </a:p>
        </p:txBody>
      </p:sp>
      <p:sp>
        <p:nvSpPr>
          <p:cNvPr id="15" name="Text 12"/>
          <p:cNvSpPr/>
          <p:nvPr/>
        </p:nvSpPr>
        <p:spPr>
          <a:xfrm>
            <a:off x="6502400" y="2966591"/>
            <a:ext cx="473532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D3E0"/>
                </a:solidFill>
                <a:latin typeface="Public Sans" pitchFamily="34" charset="0"/>
                <a:ea typeface="Public Sans" pitchFamily="34" charset="-122"/>
                <a:cs typeface="Public Sans" pitchFamily="34" charset="-120"/>
              </a:rPr>
              <a:t>Same model and search as the original. Runs the eval suite; becomes the container.</a:t>
            </a:r>
            <a:endParaRPr lang="en-US" sz="1400" dirty="0"/>
          </a:p>
        </p:txBody>
      </p:sp>
      <p:sp>
        <p:nvSpPr>
          <p:cNvPr id="16" name="Text 13"/>
          <p:cNvSpPr/>
          <p:nvPr/>
        </p:nvSpPr>
        <p:spPr>
          <a:xfrm>
            <a:off x="812800" y="4066332"/>
            <a:ext cx="981075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B5C"/>
                </a:solidFill>
                <a:latin typeface="Public Sans" pitchFamily="34" charset="0"/>
                <a:ea typeface="Public Sans" pitchFamily="34" charset="-122"/>
                <a:cs typeface="Public Sans" pitchFamily="34" charset="-120"/>
              </a:rPr>
              <a:t>Model and search are configuration: </a:t>
            </a:r>
            <a:r>
              <a:rPr lang="en-US" sz="1500" b="1" dirty="0">
                <a:solidFill>
                  <a:srgbClr val="0C2340"/>
                </a:solidFill>
                <a:latin typeface="Public Sans" pitchFamily="34" charset="0"/>
                <a:ea typeface="Public Sans" pitchFamily="34" charset="-122"/>
                <a:cs typeface="Public Sans" pitchFamily="34" charset="-120"/>
              </a:rPr>
              <a:t>MCCS_MODEL</a:t>
            </a:r>
            <a:r>
              <a:rPr lang="en-US" sz="1500" dirty="0">
                <a:solidFill>
                  <a:srgbClr val="3D4B5C"/>
                </a:solidFill>
                <a:latin typeface="Public Sans" pitchFamily="34" charset="0"/>
                <a:ea typeface="Public Sans" pitchFamily="34" charset="-122"/>
                <a:cs typeface="Public Sans" pitchFamily="34" charset="-120"/>
              </a:rPr>
              <a:t> and </a:t>
            </a:r>
            <a:r>
              <a:rPr lang="en-US" sz="1500" b="1" dirty="0">
                <a:solidFill>
                  <a:srgbClr val="0C2340"/>
                </a:solidFill>
                <a:latin typeface="Public Sans" pitchFamily="34" charset="0"/>
                <a:ea typeface="Public Sans" pitchFamily="34" charset="-122"/>
                <a:cs typeface="Public Sans" pitchFamily="34" charset="-120"/>
              </a:rPr>
              <a:t>MCCS_SEARCH</a:t>
            </a:r>
            <a:r>
              <a:rPr lang="en-US" sz="1500" dirty="0">
                <a:solidFill>
                  <a:srgbClr val="3D4B5C"/>
                </a:solidFill>
                <a:latin typeface="Public Sans" pitchFamily="34" charset="0"/>
                <a:ea typeface="Public Sans" pitchFamily="34" charset="-122"/>
                <a:cs typeface="Public Sans" pitchFamily="34" charset="-120"/>
              </a:rPr>
              <a:t> switch them with no prompt change.</a:t>
            </a:r>
            <a:endParaRPr lang="en-US" sz="1500" dirty="0"/>
          </a:p>
        </p:txBody>
      </p:sp>
      <p:sp>
        <p:nvSpPr>
          <p:cNvPr id="17"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18" name="Text 15"/>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1211610"/>
            <a:ext cx="6749796"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LIVE DEMO</a:t>
            </a:r>
            <a:endParaRPr lang="en-US" sz="1400" dirty="0"/>
          </a:p>
        </p:txBody>
      </p:sp>
      <p:sp>
        <p:nvSpPr>
          <p:cNvPr id="5" name="Text 2"/>
          <p:cNvSpPr>
            <a:spLocks noGrp="1"/>
          </p:cNvSpPr>
          <p:nvPr>
            <p:ph type="title"/>
          </p:nvPr>
        </p:nvSpPr>
        <p:spPr>
          <a:xfrm>
            <a:off x="812800" y="1562100"/>
            <a:ext cx="6749796"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The assistant, live on an MCCS installation site</a:t>
            </a:r>
            <a:endParaRPr lang="en-US" sz="3600" dirty="0"/>
          </a:p>
        </p:txBody>
      </p:sp>
      <p:sp>
        <p:nvSpPr>
          <p:cNvPr id="6" name="Text 3"/>
          <p:cNvSpPr/>
          <p:nvPr/>
        </p:nvSpPr>
        <p:spPr>
          <a:xfrm>
            <a:off x="897382" y="2821880"/>
            <a:ext cx="6657594" cy="16256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Replica MCCS site: 24 installations plus Camp Blaz</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Wired live to the Team 3 agent on GenAI.mil</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Confirms the installation from the page before answering</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Six core journeys, then agent-suggested follow-ups</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Crisis line and the base’s 24/7 SAPR number always visible</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English and Spanish across every site</a:t>
            </a:r>
            <a:endParaRPr lang="en-US" sz="1400" dirty="0"/>
          </a:p>
        </p:txBody>
      </p:sp>
      <p:sp>
        <p:nvSpPr>
          <p:cNvPr id="7" name="Text 4"/>
          <p:cNvSpPr/>
          <p:nvPr/>
        </p:nvSpPr>
        <p:spPr>
          <a:xfrm>
            <a:off x="812800" y="4676080"/>
            <a:ext cx="6553200" cy="767060"/>
          </a:xfrm>
          <a:prstGeom prst="roundRect">
            <a:avLst>
              <a:gd name="adj" fmla="val 9934"/>
            </a:avLst>
          </a:prstGeom>
          <a:solidFill>
            <a:srgbClr val="FFFFFF"/>
          </a:solidFill>
          <a:ln/>
        </p:spPr>
        <p:txBody>
          <a:bodyPr wrap="square" lIns="231682" tIns="130082" rIns="0" bIns="104682" rtlCol="0" anchor="t">
            <a:normAutofit/>
          </a:bodyPr>
          <a:lstStyle/>
          <a:p>
            <a:pPr marL="0" indent="0" algn="l">
              <a:lnSpc>
                <a:spcPts val="1820"/>
              </a:lnSpc>
              <a:buNone/>
            </a:pPr>
            <a:r>
              <a:rPr lang="en-US" sz="1300" dirty="0">
                <a:solidFill>
                  <a:srgbClr val="0C2340"/>
                </a:solidFill>
                <a:latin typeface="Public Sans" pitchFamily="34" charset="0"/>
                <a:ea typeface="Public Sans" pitchFamily="34" charset="-122"/>
                <a:cs typeface="Public Sans" pitchFamily="34" charset="-120"/>
              </a:rPr>
              <a:t>Production keeps this widget and the agent; an MCCS gateway holds the credentials.</a:t>
            </a:r>
            <a:endParaRPr lang="en-US" sz="1300" dirty="0"/>
          </a:p>
        </p:txBody>
      </p:sp>
      <p:sp>
        <p:nvSpPr>
          <p:cNvPr id="8" name="Shape 5"/>
          <p:cNvSpPr/>
          <p:nvPr/>
        </p:nvSpPr>
        <p:spPr>
          <a:xfrm>
            <a:off x="812800" y="4676080"/>
            <a:ext cx="6553200" cy="767060"/>
          </a:xfrm>
          <a:custGeom>
            <a:avLst/>
            <a:gdLst/>
            <a:ahLst/>
            <a:cxnLst/>
            <a:rect l="l" t="t" r="r" b="b"/>
            <a:pathLst>
              <a:path w="6553200" h="767060">
                <a:moveTo>
                  <a:pt x="76200" y="767060"/>
                </a:moveTo>
                <a:lnTo>
                  <a:pt x="76200" y="767060"/>
                </a:lnTo>
                <a:arcTo wR="76200" hR="76200" stAng="5400000" swAng="5400000"/>
                <a:lnTo>
                  <a:pt x="0" y="76200"/>
                </a:lnTo>
                <a:arcTo wR="76200" hR="76200" stAng="10800000" swAng="5400000"/>
                <a:lnTo>
                  <a:pt x="76200" y="0"/>
                </a:lnTo>
                <a:arcTo wR="25400" hR="76200" stAng="16200000" swAng="-5400000"/>
                <a:lnTo>
                  <a:pt x="50800" y="690860"/>
                </a:lnTo>
                <a:arcTo wR="25400" hR="76200" stAng="10800000" swAng="-5400000"/>
                <a:close/>
              </a:path>
            </a:pathLst>
          </a:custGeom>
          <a:solidFill>
            <a:srgbClr val="F5A524"/>
          </a:solidFill>
          <a:ln/>
        </p:spPr>
        <p:txBody>
          <a:bodyPr/>
          <a:lstStyle/>
          <a:p>
            <a:endParaRPr lang="en-US"/>
          </a:p>
        </p:txBody>
      </p:sp>
      <p:pic>
        <p:nvPicPr>
          <p:cNvPr id="9" name="Image 1" descr="Semper SI chat widget showing the six core journeys, the crisis strip and the question box"/>
          <p:cNvPicPr>
            <a:picLocks noChangeAspect="1"/>
          </p:cNvPicPr>
          <p:nvPr/>
        </p:nvPicPr>
        <p:blipFill>
          <a:blip r:embed="rId4"/>
          <a:srcRect t="-6" b="-6"/>
          <a:stretch/>
        </p:blipFill>
        <p:spPr>
          <a:xfrm>
            <a:off x="7823200" y="885825"/>
            <a:ext cx="3556000" cy="4883150"/>
          </a:xfrm>
          <a:prstGeom prst="roundRect">
            <a:avLst>
              <a:gd name="adj" fmla="val 2857"/>
            </a:avLst>
          </a:prstGeom>
          <a:effectLst>
            <a:outerShdw blurRad="304800" dist="101600" dir="5400000" algn="bl" rotWithShape="0">
              <a:srgbClr val="0B1F3A">
                <a:alpha val="25000"/>
              </a:srgbClr>
            </a:outerShdw>
          </a:effectLst>
        </p:spPr>
      </p:pic>
      <p:sp>
        <p:nvSpPr>
          <p:cNvPr id="10" name="Text 6"/>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11" name="Text 7"/>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BASELINE EVALUATION · 41 CASES PER MODEL</a:t>
            </a:r>
            <a:endParaRPr lang="en-US" sz="1400" dirty="0"/>
          </a:p>
        </p:txBody>
      </p:sp>
      <p:sp>
        <p:nvSpPr>
          <p:cNvPr id="5" name="Text 2"/>
          <p:cNvSpPr>
            <a:spLocks noGrp="1"/>
          </p:cNvSpPr>
          <p:nvPr>
            <p:ph type="title"/>
          </p:nvPr>
        </p:nvSpPr>
        <p:spPr>
          <a:xfrm>
            <a:off x="812800" y="116329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Argon gets the details right; Flash is faster but errs 2.6× as often</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35771"/>
          <a:ext cx="10553700" cy="2889250"/>
        </p:xfrm>
        <a:graphic>
          <a:graphicData uri="http://schemas.openxmlformats.org/drawingml/2006/table">
            <a:tbl>
              <a:tblPr/>
              <a:tblGrid>
                <a:gridCol w="4854702">
                  <a:extLst>
                    <a:ext uri="{9D8B030D-6E8A-4147-A177-3AD203B41FA5}">
                      <a16:colId xmlns:a16="http://schemas.microsoft.com/office/drawing/2014/main" val="20000"/>
                    </a:ext>
                  </a:extLst>
                </a:gridCol>
                <a:gridCol w="2849499">
                  <a:extLst>
                    <a:ext uri="{9D8B030D-6E8A-4147-A177-3AD203B41FA5}">
                      <a16:colId xmlns:a16="http://schemas.microsoft.com/office/drawing/2014/main" val="20001"/>
                    </a:ext>
                  </a:extLst>
                </a:gridCol>
                <a:gridCol w="2849499">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F7F4EC"/>
                          </a:solidFill>
                          <a:latin typeface="Public Sans" pitchFamily="34" charset="0"/>
                          <a:ea typeface="Public Sans" pitchFamily="34" charset="-122"/>
                          <a:cs typeface="Public Sans" pitchFamily="34" charset="-120"/>
                        </a:rPr>
                        <a:t>Measure</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tc>
                  <a:txBody>
                    <a:bodyPr/>
                    <a:lstStyle/>
                    <a:p>
                      <a:pPr marL="0" indent="0" algn="r">
                        <a:lnSpc>
                          <a:spcPts val="2100"/>
                        </a:lnSpc>
                        <a:buNone/>
                      </a:pPr>
                      <a:r>
                        <a:rPr lang="en-US" sz="1500" b="1" dirty="0">
                          <a:solidFill>
                            <a:srgbClr val="F7F4EC"/>
                          </a:solidFill>
                          <a:latin typeface="Public Sans" pitchFamily="34" charset="0"/>
                          <a:ea typeface="Public Sans" pitchFamily="34" charset="-122"/>
                          <a:cs typeface="Public Sans" pitchFamily="34" charset="-120"/>
                        </a:rPr>
                        <a:t>Gemini 4 Argon</a:t>
                      </a:r>
                      <a:endParaRPr lang="en-US" sz="1500" dirty="0">
                        <a:latin typeface="Public Sans" charset="0"/>
                        <a:ea typeface="Public Sans" charset="0"/>
                        <a:cs typeface="Public Sans" charset="0"/>
                      </a:endParaRPr>
                    </a:p>
                  </a:txBody>
                  <a:tcPr marL="66675" marR="66675" marT="66675" marB="66675">
                    <a:lnL w="12700" cap="flat" cmpd="sng" algn="ctr">
                      <a:solidFill>
                        <a:srgbClr val="0E2036"/>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tc>
                  <a:txBody>
                    <a:bodyPr/>
                    <a:lstStyle/>
                    <a:p>
                      <a:pPr marL="0" indent="0" algn="r">
                        <a:lnSpc>
                          <a:spcPts val="2100"/>
                        </a:lnSpc>
                        <a:buNone/>
                      </a:pPr>
                      <a:r>
                        <a:rPr lang="en-US" sz="1500" b="1" dirty="0">
                          <a:solidFill>
                            <a:srgbClr val="F7F4EC"/>
                          </a:solidFill>
                          <a:latin typeface="Public Sans" pitchFamily="34" charset="0"/>
                          <a:ea typeface="Public Sans" pitchFamily="34" charset="-122"/>
                          <a:cs typeface="Public Sans" pitchFamily="34" charset="-120"/>
                        </a:rPr>
                        <a:t>Gemini 3.8 Flash</a:t>
                      </a:r>
                      <a:endParaRPr lang="en-US" sz="1500" dirty="0">
                        <a:latin typeface="Public Sans" charset="0"/>
                        <a:ea typeface="Public Sans" charset="0"/>
                        <a:cs typeface="Public Sans" charset="0"/>
                      </a:endParaRPr>
                    </a:p>
                  </a:txBody>
                  <a:tcPr marL="66675" marR="66675" marT="66675" marB="66675">
                    <a:lnL w="12700" cap="flat" cmpd="sng" algn="ctr">
                      <a:solidFill>
                        <a:srgbClr val="0E2036"/>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0C2340"/>
                          </a:solidFill>
                          <a:latin typeface="Public Sans" pitchFamily="34" charset="0"/>
                          <a:ea typeface="Public Sans" pitchFamily="34" charset="-122"/>
                          <a:cs typeface="Public Sans" pitchFamily="34" charset="-120"/>
                        </a:rPr>
                        <a:t>Pass rate</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2100"/>
                        </a:lnSpc>
                        <a:buNone/>
                      </a:pPr>
                      <a:r>
                        <a:rPr lang="en-US" sz="1500" dirty="0">
                          <a:solidFill>
                            <a:srgbClr val="C81E38"/>
                          </a:solidFill>
                          <a:latin typeface="Public Sans" pitchFamily="34" charset="0"/>
                          <a:ea typeface="Public Sans" pitchFamily="34" charset="-122"/>
                          <a:cs typeface="Public Sans" pitchFamily="34" charset="-120"/>
                        </a:rPr>
                        <a:t>34/41 (83%)</a:t>
                      </a:r>
                      <a:endParaRPr lang="en-US" sz="1500" dirty="0">
                        <a:latin typeface="Public Sans" charset="0"/>
                        <a:ea typeface="Public Sans" charset="0"/>
                        <a:cs typeface="Public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24/41 (59%)</a:t>
                      </a:r>
                      <a:endParaRPr lang="en-US" sz="1500" dirty="0">
                        <a:latin typeface="Public Sans" charset="0"/>
                        <a:ea typeface="Public Sans" charset="0"/>
                        <a:cs typeface="Public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0C2340"/>
                          </a:solidFill>
                          <a:latin typeface="Public Sans" pitchFamily="34" charset="0"/>
                          <a:ea typeface="Public Sans" pitchFamily="34" charset="-122"/>
                          <a:cs typeface="Public Sans" pitchFamily="34" charset="-120"/>
                        </a:rPr>
                        <a:t>False claims found</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2100"/>
                        </a:lnSpc>
                        <a:buNone/>
                      </a:pPr>
                      <a:r>
                        <a:rPr lang="en-US" sz="1500" dirty="0">
                          <a:solidFill>
                            <a:srgbClr val="C81E38"/>
                          </a:solidFill>
                          <a:latin typeface="Public Sans" pitchFamily="34" charset="0"/>
                          <a:ea typeface="Public Sans" pitchFamily="34" charset="-122"/>
                          <a:cs typeface="Public Sans" pitchFamily="34" charset="-120"/>
                        </a:rPr>
                        <a:t>8</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21</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0C2340"/>
                          </a:solidFill>
                          <a:latin typeface="Public Sans" pitchFamily="34" charset="0"/>
                          <a:ea typeface="Public Sans" pitchFamily="34" charset="-122"/>
                          <a:cs typeface="Public Sans" pitchFamily="34" charset="-120"/>
                        </a:rPr>
                        <a:t>Safety cases passed</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2100"/>
                        </a:lnSpc>
                        <a:buNone/>
                      </a:pPr>
                      <a:r>
                        <a:rPr lang="en-US" sz="1500" dirty="0">
                          <a:solidFill>
                            <a:srgbClr val="C81E38"/>
                          </a:solidFill>
                          <a:latin typeface="Public Sans" pitchFamily="34" charset="0"/>
                          <a:ea typeface="Public Sans" pitchFamily="34" charset="-122"/>
                          <a:cs typeface="Public Sans" pitchFamily="34" charset="-120"/>
                        </a:rPr>
                        <a:t>3/3</a:t>
                      </a:r>
                      <a:endParaRPr lang="en-US" sz="1500" dirty="0">
                        <a:latin typeface="Public Sans" charset="0"/>
                        <a:ea typeface="Public Sans" charset="0"/>
                        <a:cs typeface="Public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2/3</a:t>
                      </a:r>
                      <a:endParaRPr lang="en-US" sz="1500" dirty="0">
                        <a:latin typeface="Public Sans" charset="0"/>
                        <a:ea typeface="Public Sans" charset="0"/>
                        <a:cs typeface="Public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0C2340"/>
                          </a:solidFill>
                          <a:latin typeface="Public Sans" pitchFamily="34" charset="0"/>
                          <a:ea typeface="Public Sans" pitchFamily="34" charset="-122"/>
                          <a:cs typeface="Public Sans" pitchFamily="34" charset="-120"/>
                        </a:rPr>
                        <a:t>Uncertainty cases passed</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2100"/>
                        </a:lnSpc>
                        <a:buNone/>
                      </a:pPr>
                      <a:r>
                        <a:rPr lang="en-US" sz="1500" dirty="0">
                          <a:solidFill>
                            <a:srgbClr val="C81E38"/>
                          </a:solidFill>
                          <a:latin typeface="Public Sans" pitchFamily="34" charset="0"/>
                          <a:ea typeface="Public Sans" pitchFamily="34" charset="-122"/>
                          <a:cs typeface="Public Sans" pitchFamily="34" charset="-120"/>
                        </a:rPr>
                        <a:t>3/3</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1/3</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0C2340"/>
                          </a:solidFill>
                          <a:latin typeface="Public Sans" pitchFamily="34" charset="0"/>
                          <a:ea typeface="Public Sans" pitchFamily="34" charset="-122"/>
                          <a:cs typeface="Public Sans" pitchFamily="34" charset="-120"/>
                        </a:rPr>
                        <a:t>Median latency per turn</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38 s</a:t>
                      </a:r>
                      <a:endParaRPr lang="en-US" sz="1500" dirty="0">
                        <a:latin typeface="Public Sans" charset="0"/>
                        <a:ea typeface="Public Sans" charset="0"/>
                        <a:cs typeface="Public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19 s</a:t>
                      </a:r>
                      <a:endParaRPr lang="en-US" sz="1500" dirty="0">
                        <a:latin typeface="Public Sans" charset="0"/>
                        <a:ea typeface="Public Sans" charset="0"/>
                        <a:cs typeface="Public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0C2340"/>
                          </a:solidFill>
                          <a:latin typeface="Public Sans" pitchFamily="34" charset="0"/>
                          <a:ea typeface="Public Sans" pitchFamily="34" charset="-122"/>
                          <a:cs typeface="Public Sans" pitchFamily="34" charset="-120"/>
                        </a:rPr>
                        <a:t>Cost per conversation</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$0.10</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gn="r">
                        <a:lnSpc>
                          <a:spcPts val="2100"/>
                        </a:lnSpc>
                        <a:buNone/>
                      </a:pPr>
                      <a:r>
                        <a:rPr lang="en-US" sz="1500" dirty="0">
                          <a:solidFill>
                            <a:srgbClr val="0C2340"/>
                          </a:solidFill>
                          <a:latin typeface="Public Sans" pitchFamily="34" charset="0"/>
                          <a:ea typeface="Public Sans" pitchFamily="34" charset="-122"/>
                          <a:cs typeface="Public Sans" pitchFamily="34" charset="-120"/>
                        </a:rPr>
                        <a:t>$0.11</a:t>
                      </a:r>
                      <a:endParaRPr lang="en-US" sz="1500" dirty="0">
                        <a:latin typeface="Public Sans" charset="0"/>
                        <a:ea typeface="Public Sans" charset="0"/>
                        <a:cs typeface="Public Sans" charset="0"/>
                      </a:endParaRPr>
                    </a:p>
                  </a:txBody>
                  <a:tcPr marL="66675" marR="66675" marT="66675" marB="6667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Judge: Claude, fact-checking 151 claims against official pages · v1 prompt</a:t>
            </a:r>
            <a:endParaRPr lang="en-US" sz="1200" dirty="0"/>
          </a:p>
        </p:txBody>
      </p:sp>
      <p:sp>
        <p:nvSpPr>
          <p:cNvPr id="8" name="Text 4"/>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TEST, FIX, RE-TEST · ARGON, ALL 41 CASES</a:t>
            </a:r>
            <a:endParaRPr lang="en-US" sz="1400" dirty="0"/>
          </a:p>
        </p:txBody>
      </p:sp>
      <p:sp>
        <p:nvSpPr>
          <p:cNvPr id="5" name="Text 2"/>
          <p:cNvSpPr>
            <a:spLocks noGrp="1"/>
          </p:cNvSpPr>
          <p:nvPr>
            <p:ph type="title"/>
          </p:nvPr>
        </p:nvSpPr>
        <p:spPr>
          <a:xfrm>
            <a:off x="812800" y="11632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The v2 prompt fixed what the tests found</a:t>
            </a:r>
            <a:endParaRPr lang="en-US" sz="3600" dirty="0"/>
          </a:p>
        </p:txBody>
      </p:sp>
      <p:sp>
        <p:nvSpPr>
          <p:cNvPr id="6" name="Shape 3"/>
          <p:cNvSpPr/>
          <p:nvPr/>
        </p:nvSpPr>
        <p:spPr>
          <a:xfrm>
            <a:off x="812800" y="1983680"/>
            <a:ext cx="3352800" cy="0"/>
          </a:xfrm>
          <a:prstGeom prst="line">
            <a:avLst/>
          </a:prstGeom>
          <a:noFill/>
          <a:ln w="25400">
            <a:solidFill>
              <a:srgbClr val="0C2340"/>
            </a:solidFill>
            <a:prstDash val="solid"/>
          </a:ln>
        </p:spPr>
        <p:txBody>
          <a:bodyPr/>
          <a:lstStyle/>
          <a:p>
            <a:endParaRPr lang="en-US"/>
          </a:p>
        </p:txBody>
      </p:sp>
      <p:sp>
        <p:nvSpPr>
          <p:cNvPr id="7" name="Text 4"/>
          <p:cNvSpPr/>
          <p:nvPr/>
        </p:nvSpPr>
        <p:spPr>
          <a:xfrm>
            <a:off x="812800" y="2199580"/>
            <a:ext cx="3453384" cy="1549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81E38"/>
                </a:solidFill>
                <a:latin typeface="Oswald" pitchFamily="34" charset="0"/>
                <a:ea typeface="Oswald" pitchFamily="34" charset="-122"/>
                <a:cs typeface="Oswald" pitchFamily="34" charset="-120"/>
              </a:rPr>
              <a:t>83 → 90%</a:t>
            </a:r>
            <a:endParaRPr lang="en-US" sz="6000" dirty="0"/>
          </a:p>
        </p:txBody>
      </p:sp>
      <p:sp>
        <p:nvSpPr>
          <p:cNvPr id="8" name="Text 5"/>
          <p:cNvSpPr/>
          <p:nvPr/>
        </p:nvSpPr>
        <p:spPr>
          <a:xfrm>
            <a:off x="812800" y="3774380"/>
            <a:ext cx="345338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C2340"/>
                </a:solidFill>
                <a:latin typeface="Public Sans" pitchFamily="34" charset="0"/>
                <a:ea typeface="Public Sans" pitchFamily="34" charset="-122"/>
                <a:cs typeface="Public Sans" pitchFamily="34" charset="-120"/>
              </a:rPr>
              <a:t>cases passed, 34 to 37 of 41</a:t>
            </a:r>
            <a:endParaRPr lang="en-US" sz="1500" dirty="0"/>
          </a:p>
        </p:txBody>
      </p:sp>
      <p:sp>
        <p:nvSpPr>
          <p:cNvPr id="9" name="Shape 6"/>
          <p:cNvSpPr/>
          <p:nvPr/>
        </p:nvSpPr>
        <p:spPr>
          <a:xfrm>
            <a:off x="4419600" y="1983680"/>
            <a:ext cx="3352800" cy="0"/>
          </a:xfrm>
          <a:prstGeom prst="line">
            <a:avLst/>
          </a:prstGeom>
          <a:noFill/>
          <a:ln w="25400">
            <a:solidFill>
              <a:srgbClr val="0C2340"/>
            </a:solidFill>
            <a:prstDash val="solid"/>
          </a:ln>
        </p:spPr>
        <p:txBody>
          <a:bodyPr/>
          <a:lstStyle/>
          <a:p>
            <a:endParaRPr lang="en-US"/>
          </a:p>
        </p:txBody>
      </p:sp>
      <p:sp>
        <p:nvSpPr>
          <p:cNvPr id="10" name="Text 7"/>
          <p:cNvSpPr/>
          <p:nvPr/>
        </p:nvSpPr>
        <p:spPr>
          <a:xfrm>
            <a:off x="4419600" y="2199580"/>
            <a:ext cx="34533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C2340"/>
                </a:solidFill>
                <a:latin typeface="Oswald" pitchFamily="34" charset="0"/>
                <a:ea typeface="Oswald" pitchFamily="34" charset="-122"/>
                <a:cs typeface="Oswald" pitchFamily="34" charset="-120"/>
              </a:rPr>
              <a:t>12/12</a:t>
            </a:r>
            <a:endParaRPr lang="en-US" sz="6000" dirty="0"/>
          </a:p>
        </p:txBody>
      </p:sp>
      <p:sp>
        <p:nvSpPr>
          <p:cNvPr id="11" name="Text 8"/>
          <p:cNvSpPr/>
          <p:nvPr/>
        </p:nvSpPr>
        <p:spPr>
          <a:xfrm>
            <a:off x="4419600" y="3012380"/>
            <a:ext cx="345338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C2340"/>
                </a:solidFill>
                <a:latin typeface="Public Sans" pitchFamily="34" charset="0"/>
                <a:ea typeface="Public Sans" pitchFamily="34" charset="-122"/>
                <a:cs typeface="Public Sans" pitchFamily="34" charset="-120"/>
              </a:rPr>
              <a:t>safety, scope and security cases (v1: 10/12)</a:t>
            </a:r>
            <a:endParaRPr lang="en-US" sz="1500" dirty="0"/>
          </a:p>
        </p:txBody>
      </p:sp>
      <p:sp>
        <p:nvSpPr>
          <p:cNvPr id="12" name="Shape 9"/>
          <p:cNvSpPr/>
          <p:nvPr/>
        </p:nvSpPr>
        <p:spPr>
          <a:xfrm>
            <a:off x="8026400" y="1983680"/>
            <a:ext cx="3352800" cy="0"/>
          </a:xfrm>
          <a:prstGeom prst="line">
            <a:avLst/>
          </a:prstGeom>
          <a:noFill/>
          <a:ln w="25400">
            <a:solidFill>
              <a:srgbClr val="0C2340"/>
            </a:solidFill>
            <a:prstDash val="solid"/>
          </a:ln>
        </p:spPr>
        <p:txBody>
          <a:bodyPr/>
          <a:lstStyle/>
          <a:p>
            <a:endParaRPr lang="en-US"/>
          </a:p>
        </p:txBody>
      </p:sp>
      <p:sp>
        <p:nvSpPr>
          <p:cNvPr id="13" name="Text 10"/>
          <p:cNvSpPr/>
          <p:nvPr/>
        </p:nvSpPr>
        <p:spPr>
          <a:xfrm>
            <a:off x="8026400" y="2199580"/>
            <a:ext cx="34533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C2340"/>
                </a:solidFill>
                <a:latin typeface="Oswald" pitchFamily="34" charset="0"/>
                <a:ea typeface="Oswald" pitchFamily="34" charset="-122"/>
                <a:cs typeface="Oswald" pitchFamily="34" charset="-120"/>
              </a:rPr>
              <a:t>30 → 0</a:t>
            </a:r>
            <a:endParaRPr lang="en-US" sz="6000" dirty="0"/>
          </a:p>
        </p:txBody>
      </p:sp>
      <p:sp>
        <p:nvSpPr>
          <p:cNvPr id="14" name="Text 11"/>
          <p:cNvSpPr/>
          <p:nvPr/>
        </p:nvSpPr>
        <p:spPr>
          <a:xfrm>
            <a:off x="8026400" y="3012380"/>
            <a:ext cx="345338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C2340"/>
                </a:solidFill>
                <a:latin typeface="Public Sans" pitchFamily="34" charset="0"/>
                <a:ea typeface="Public Sans" pitchFamily="34" charset="-122"/>
                <a:cs typeface="Public Sans" pitchFamily="34" charset="-120"/>
              </a:rPr>
              <a:t>answers with hidden redirect links</a:t>
            </a:r>
            <a:endParaRPr lang="en-US" sz="1500" dirty="0"/>
          </a:p>
        </p:txBody>
      </p:sp>
      <p:sp>
        <p:nvSpPr>
          <p:cNvPr id="15" name="Text 12"/>
          <p:cNvSpPr/>
          <p:nvPr/>
        </p:nvSpPr>
        <p:spPr>
          <a:xfrm>
            <a:off x="812800" y="4345880"/>
            <a:ext cx="1046480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B5C"/>
                </a:solidFill>
                <a:latin typeface="Public Sans" pitchFamily="34" charset="0"/>
                <a:ea typeface="Public Sans" pitchFamily="34" charset="-122"/>
                <a:cs typeface="Public Sans" pitchFamily="34" charset="-120"/>
              </a:rPr>
              <a:t>Fixed: Okinawa crisis numbers, Miramar gym hours, OPSEC echo, Fort Bragg referral. Still failing: 4 cases, each borrowing a detail from a neighboring program on the same page. Fact cards are the fix.</a:t>
            </a:r>
            <a:endParaRPr lang="en-US" sz="1500" dirty="0"/>
          </a:p>
        </p:txBody>
      </p:sp>
      <p:sp>
        <p:nvSpPr>
          <p:cNvPr id="16" name="Text 1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Judged against a verified fact sheet · v2 is a candidate pending the prompt owner’s approval</a:t>
            </a:r>
            <a:endParaRPr lang="en-US" sz="1200" dirty="0"/>
          </a:p>
        </p:txBody>
      </p:sp>
      <p:sp>
        <p:nvSpPr>
          <p:cNvPr id="17" name="Text 14"/>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81E38"/>
        </a:solidFill>
        <a:effectLst/>
      </p:bgPr>
    </p:bg>
    <p:spTree>
      <p:nvGrpSpPr>
        <p:cNvPr id="1" name=""/>
        <p:cNvGrpSpPr/>
        <p:nvPr/>
      </p:nvGrpSpPr>
      <p:grpSpPr>
        <a:xfrm>
          <a:off x="0" y="0"/>
          <a:ext cx="0" cy="0"/>
          <a:chOff x="0" y="0"/>
          <a:chExt cx="0" cy="0"/>
        </a:xfrm>
      </p:grpSpPr>
      <p:sp>
        <p:nvSpPr>
          <p:cNvPr id="2" name="Shape 0"/>
          <p:cNvSpPr/>
          <p:nvPr/>
        </p:nvSpPr>
        <p:spPr>
          <a:xfrm>
            <a:off x="0" y="6756400"/>
            <a:ext cx="12192000" cy="101600"/>
          </a:xfrm>
          <a:prstGeom prst="rect">
            <a:avLst/>
          </a:prstGeom>
          <a:solidFill>
            <a:srgbClr val="F5A524"/>
          </a:solidFill>
          <a:ln/>
        </p:spPr>
        <p:txBody>
          <a:bodyPr/>
          <a:lstStyle/>
          <a:p>
            <a:endParaRPr lang="en-US"/>
          </a:p>
        </p:txBody>
      </p:sp>
      <p:sp>
        <p:nvSpPr>
          <p:cNvPr id="3" name="Text 1"/>
          <p:cNvSpPr/>
          <p:nvPr/>
        </p:nvSpPr>
        <p:spPr>
          <a:xfrm>
            <a:off x="812800" y="1788914"/>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FE08A"/>
                </a:solidFill>
                <a:latin typeface="Public Sans" pitchFamily="34" charset="0"/>
                <a:ea typeface="Public Sans" pitchFamily="34" charset="-122"/>
                <a:cs typeface="Public Sans" pitchFamily="34" charset="-120"/>
              </a:rPr>
              <a:t>SAFETY OVERRIDES EVERY OTHER RULE</a:t>
            </a:r>
            <a:endParaRPr lang="en-US" sz="1400" dirty="0"/>
          </a:p>
        </p:txBody>
      </p:sp>
      <p:sp>
        <p:nvSpPr>
          <p:cNvPr id="4" name="Text 2"/>
          <p:cNvSpPr>
            <a:spLocks noGrp="1"/>
          </p:cNvSpPr>
          <p:nvPr>
            <p:ph type="title"/>
          </p:nvPr>
        </p:nvSpPr>
        <p:spPr>
          <a:xfrm>
            <a:off x="812800" y="2342604"/>
            <a:ext cx="10464800" cy="1342132"/>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7F4EC"/>
                </a:solidFill>
                <a:latin typeface="Oswald" pitchFamily="34" charset="0"/>
                <a:ea typeface="Oswald" pitchFamily="34" charset="-122"/>
                <a:cs typeface="Oswald" pitchFamily="34" charset="-120"/>
              </a:rPr>
              <a:t>Crisis resources come first, before any question, at home or overseas</a:t>
            </a:r>
            <a:endParaRPr lang="en-US" sz="4800" dirty="0"/>
          </a:p>
        </p:txBody>
      </p:sp>
      <p:sp>
        <p:nvSpPr>
          <p:cNvPr id="5" name="Text 3"/>
          <p:cNvSpPr/>
          <p:nvPr/>
        </p:nvSpPr>
        <p:spPr>
          <a:xfrm>
            <a:off x="812800" y="3964136"/>
            <a:ext cx="208274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7F4EC"/>
                </a:solidFill>
                <a:latin typeface="Oswald" pitchFamily="34" charset="0"/>
                <a:ea typeface="Oswald" pitchFamily="34" charset="-122"/>
                <a:cs typeface="Oswald" pitchFamily="34" charset="-120"/>
              </a:rPr>
              <a:t>9 s</a:t>
            </a:r>
            <a:endParaRPr lang="en-US" sz="4800" dirty="0"/>
          </a:p>
        </p:txBody>
      </p:sp>
      <p:sp>
        <p:nvSpPr>
          <p:cNvPr id="6" name="Text 4"/>
          <p:cNvSpPr/>
          <p:nvPr/>
        </p:nvSpPr>
        <p:spPr>
          <a:xfrm>
            <a:off x="812800" y="4599136"/>
            <a:ext cx="242649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4EC"/>
                </a:solidFill>
                <a:latin typeface="Public Sans" pitchFamily="34" charset="0"/>
                <a:ea typeface="Public Sans" pitchFamily="34" charset="-122"/>
                <a:cs typeface="Public Sans" pitchFamily="34" charset="-120"/>
              </a:rPr>
              <a:t>suicide-crisis response</a:t>
            </a:r>
            <a:endParaRPr lang="en-US" sz="1500" dirty="0"/>
          </a:p>
        </p:txBody>
      </p:sp>
      <p:sp>
        <p:nvSpPr>
          <p:cNvPr id="7" name="Text 5"/>
          <p:cNvSpPr/>
          <p:nvPr/>
        </p:nvSpPr>
        <p:spPr>
          <a:xfrm>
            <a:off x="3342878" y="3964136"/>
            <a:ext cx="315857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7F4EC"/>
                </a:solidFill>
                <a:latin typeface="Oswald" pitchFamily="34" charset="0"/>
                <a:ea typeface="Oswald" pitchFamily="34" charset="-122"/>
                <a:cs typeface="Oswald" pitchFamily="34" charset="-120"/>
              </a:rPr>
              <a:t>116 → 15 s</a:t>
            </a:r>
            <a:endParaRPr lang="en-US" sz="4800" dirty="0"/>
          </a:p>
        </p:txBody>
      </p:sp>
      <p:sp>
        <p:nvSpPr>
          <p:cNvPr id="8" name="Text 6"/>
          <p:cNvSpPr/>
          <p:nvPr/>
        </p:nvSpPr>
        <p:spPr>
          <a:xfrm>
            <a:off x="3342878" y="4599136"/>
            <a:ext cx="273009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4EC"/>
                </a:solidFill>
                <a:latin typeface="Public Sans" pitchFamily="34" charset="0"/>
                <a:ea typeface="Public Sans" pitchFamily="34" charset="-122"/>
                <a:cs typeface="Public Sans" pitchFamily="34" charset="-120"/>
              </a:rPr>
              <a:t>sexual-assault response</a:t>
            </a:r>
            <a:endParaRPr lang="en-US" sz="1500" dirty="0"/>
          </a:p>
        </p:txBody>
      </p:sp>
      <p:sp>
        <p:nvSpPr>
          <p:cNvPr id="9" name="Text 7"/>
          <p:cNvSpPr/>
          <p:nvPr/>
        </p:nvSpPr>
        <p:spPr>
          <a:xfrm>
            <a:off x="6501457" y="3964136"/>
            <a:ext cx="312073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7F4EC"/>
                </a:solidFill>
                <a:latin typeface="Oswald" pitchFamily="34" charset="0"/>
                <a:ea typeface="Oswald" pitchFamily="34" charset="-122"/>
                <a:cs typeface="Oswald" pitchFamily="34" charset="-120"/>
              </a:rPr>
              <a:t>DSN 988</a:t>
            </a:r>
            <a:endParaRPr lang="en-US" sz="4800" dirty="0"/>
          </a:p>
        </p:txBody>
      </p:sp>
      <p:sp>
        <p:nvSpPr>
          <p:cNvPr id="10" name="Text 8"/>
          <p:cNvSpPr/>
          <p:nvPr/>
        </p:nvSpPr>
        <p:spPr>
          <a:xfrm>
            <a:off x="6501457" y="4599136"/>
            <a:ext cx="363581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4EC"/>
                </a:solidFill>
                <a:latin typeface="Public Sans" pitchFamily="34" charset="0"/>
                <a:ea typeface="Public Sans" pitchFamily="34" charset="-122"/>
                <a:cs typeface="Public Sans" pitchFamily="34" charset="-120"/>
              </a:rPr>
              <a:t>plus regional +1 numbers overseas</a:t>
            </a:r>
            <a:endParaRPr lang="en-US" sz="1500" dirty="0"/>
          </a:p>
        </p:txBody>
      </p:sp>
      <p:sp>
        <p:nvSpPr>
          <p:cNvPr id="11" name="Text 9"/>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E4E4"/>
                </a:solidFill>
                <a:latin typeface="Public Sans" pitchFamily="34" charset="0"/>
                <a:ea typeface="Public Sans" pitchFamily="34" charset="-122"/>
                <a:cs typeface="Public Sans" pitchFamily="34" charset="-120"/>
              </a:rPr>
              <a:t>Military Crisis Line · DoD Safe Helpline · Family Advocacy · restricted reporting explained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2340"/>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5A524"/>
                </a:solidFill>
                <a:latin typeface="Public Sans" pitchFamily="34" charset="0"/>
                <a:ea typeface="Public Sans" pitchFamily="34" charset="-122"/>
                <a:cs typeface="Public Sans" pitchFamily="34" charset="-120"/>
              </a:rPr>
              <a:t>SECURITY &amp; SUSTAINABILITY</a:t>
            </a:r>
            <a:endParaRPr lang="en-US" sz="1400" dirty="0"/>
          </a:p>
        </p:txBody>
      </p:sp>
      <p:sp>
        <p:nvSpPr>
          <p:cNvPr id="5" name="Text 2"/>
          <p:cNvSpPr>
            <a:spLocks noGrp="1"/>
          </p:cNvSpPr>
          <p:nvPr>
            <p:ph type="title"/>
          </p:nvPr>
        </p:nvSpPr>
        <p:spPr>
          <a:xfrm>
            <a:off x="812800" y="1163290"/>
            <a:ext cx="1046480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4EC"/>
                </a:solidFill>
                <a:latin typeface="Oswald" pitchFamily="34" charset="0"/>
                <a:ea typeface="Oswald" pitchFamily="34" charset="-122"/>
                <a:cs typeface="Oswald" pitchFamily="34" charset="-120"/>
              </a:rPr>
              <a:t>Moving to GovCloud changes configuration, not behavior</a:t>
            </a:r>
            <a:endParaRPr lang="en-US" sz="3600" dirty="0"/>
          </a:p>
        </p:txBody>
      </p:sp>
      <p:sp>
        <p:nvSpPr>
          <p:cNvPr id="6" name="Text 3"/>
          <p:cNvSpPr/>
          <p:nvPr/>
        </p:nvSpPr>
        <p:spPr>
          <a:xfrm>
            <a:off x="812800" y="2473871"/>
            <a:ext cx="523240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5A524"/>
                </a:solidFill>
                <a:latin typeface="Public Sans" pitchFamily="34" charset="0"/>
                <a:ea typeface="Public Sans" pitchFamily="34" charset="-122"/>
                <a:cs typeface="Public Sans" pitchFamily="34" charset="-120"/>
              </a:rPr>
              <a:t>Built-in controls</a:t>
            </a:r>
            <a:endParaRPr lang="en-US" sz="1700" dirty="0"/>
          </a:p>
        </p:txBody>
      </p:sp>
      <p:sp>
        <p:nvSpPr>
          <p:cNvPr id="7" name="Text 4"/>
          <p:cNvSpPr/>
          <p:nvPr/>
        </p:nvSpPr>
        <p:spPr>
          <a:xfrm>
            <a:off x="897382" y="2859931"/>
            <a:ext cx="5140198" cy="1314252"/>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Public data only; no PII stored</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Never repeats IDs, deployment dates or destinations</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Ignores instructions inside web pages</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Least privilege: 5 extra roles declined</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Keys server-side, never in a browser</a:t>
            </a:r>
            <a:endParaRPr lang="en-US" sz="1400" dirty="0"/>
          </a:p>
        </p:txBody>
      </p:sp>
      <p:sp>
        <p:nvSpPr>
          <p:cNvPr id="8" name="Text 5"/>
          <p:cNvSpPr/>
          <p:nvPr/>
        </p:nvSpPr>
        <p:spPr>
          <a:xfrm>
            <a:off x="6299200" y="2473871"/>
            <a:ext cx="523240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5A524"/>
                </a:solidFill>
                <a:latin typeface="Public Sans" pitchFamily="34" charset="0"/>
                <a:ea typeface="Public Sans" pitchFamily="34" charset="-122"/>
                <a:cs typeface="Public Sans" pitchFamily="34" charset="-120"/>
              </a:rPr>
              <a:t>Built to last</a:t>
            </a:r>
            <a:endParaRPr lang="en-US" sz="1700" dirty="0"/>
          </a:p>
        </p:txBody>
      </p:sp>
      <p:sp>
        <p:nvSpPr>
          <p:cNvPr id="9" name="Text 6"/>
          <p:cNvSpPr/>
          <p:nvPr/>
        </p:nvSpPr>
        <p:spPr>
          <a:xfrm>
            <a:off x="6383782" y="2859931"/>
            <a:ext cx="5140198" cy="1314252"/>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Model is one variable: point it at Bedrock</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Search is one tool: swap in the MCCS API</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Versioned prompts, approval plus scorecard</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Nightly suite catches page drift</a:t>
            </a:r>
            <a:endParaRPr lang="en-US" sz="1400" dirty="0"/>
          </a:p>
          <a:p>
            <a:pPr marL="169418" indent="-169418" algn="l">
              <a:lnSpc>
                <a:spcPts val="2030"/>
              </a:lnSpc>
              <a:buSzPct val="100000"/>
              <a:buChar char="•"/>
            </a:pPr>
            <a:r>
              <a:rPr lang="en-US" sz="1400" dirty="0">
                <a:solidFill>
                  <a:srgbClr val="DDE4EE"/>
                </a:solidFill>
                <a:latin typeface="Public Sans" pitchFamily="34" charset="0"/>
                <a:ea typeface="Public Sans" pitchFamily="34" charset="-122"/>
                <a:cs typeface="Public Sans" pitchFamily="34" charset="-120"/>
              </a:rPr>
              <a:t>$0.15 per conversation; search cap next</a:t>
            </a:r>
            <a:endParaRPr lang="en-US" sz="1400" dirty="0"/>
          </a:p>
        </p:txBody>
      </p:sp>
      <p:sp>
        <p:nvSpPr>
          <p:cNvPr id="10" name="Text 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Public Sans" pitchFamily="34" charset="0"/>
                <a:ea typeface="Public Sans" pitchFamily="34" charset="-122"/>
                <a:cs typeface="Public Sans" pitchFamily="34" charset="-120"/>
              </a:rPr>
              <a:t>Semper SI · Team 3</a:t>
            </a:r>
            <a:endParaRPr lang="en-US" sz="1200" dirty="0"/>
          </a:p>
        </p:txBody>
      </p:sp>
      <p:sp>
        <p:nvSpPr>
          <p:cNvPr id="11" name="Text 8"/>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3E0"/>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TRANSITION PLAN</a:t>
            </a:r>
            <a:endParaRPr lang="en-US" sz="1400" dirty="0"/>
          </a:p>
        </p:txBody>
      </p:sp>
      <p:sp>
        <p:nvSpPr>
          <p:cNvPr id="5" name="Text 2"/>
          <p:cNvSpPr>
            <a:spLocks noGrp="1"/>
          </p:cNvSpPr>
          <p:nvPr>
            <p:ph type="title"/>
          </p:nvPr>
        </p:nvSpPr>
        <p:spPr>
          <a:xfrm>
            <a:off x="812800" y="11632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Four phases to MCCS deployment, each behind a gate</a:t>
            </a:r>
            <a:endParaRPr lang="en-US" sz="3600" dirty="0"/>
          </a:p>
        </p:txBody>
      </p:sp>
      <p:sp>
        <p:nvSpPr>
          <p:cNvPr id="6" name="Shape 3"/>
          <p:cNvSpPr/>
          <p:nvPr/>
        </p:nvSpPr>
        <p:spPr>
          <a:xfrm>
            <a:off x="812800" y="1970980"/>
            <a:ext cx="2298700" cy="2166441"/>
          </a:xfrm>
          <a:prstGeom prst="roundRect">
            <a:avLst>
              <a:gd name="adj" fmla="val 4690"/>
            </a:avLst>
          </a:prstGeom>
          <a:solidFill>
            <a:srgbClr val="FFFFFF"/>
          </a:solidFill>
          <a:ln/>
        </p:spPr>
        <p:txBody>
          <a:bodyPr/>
          <a:lstStyle/>
          <a:p>
            <a:endParaRPr lang="en-US"/>
          </a:p>
        </p:txBody>
      </p:sp>
      <p:sp>
        <p:nvSpPr>
          <p:cNvPr id="7" name="Shape 4"/>
          <p:cNvSpPr/>
          <p:nvPr/>
        </p:nvSpPr>
        <p:spPr>
          <a:xfrm>
            <a:off x="812800" y="1970980"/>
            <a:ext cx="2298700" cy="2166441"/>
          </a:xfrm>
          <a:custGeom>
            <a:avLst/>
            <a:gdLst/>
            <a:ahLst/>
            <a:cxnLst/>
            <a:rect l="l" t="t" r="r" b="b"/>
            <a:pathLst>
              <a:path w="2298700" h="2166441">
                <a:moveTo>
                  <a:pt x="0" y="101600"/>
                </a:moveTo>
                <a:lnTo>
                  <a:pt x="0" y="101600"/>
                </a:lnTo>
                <a:arcTo wR="101600" hR="101600" stAng="10800000" swAng="5400000"/>
                <a:lnTo>
                  <a:pt x="2197100" y="0"/>
                </a:lnTo>
                <a:arcTo wR="101600" hR="101600" stAng="16200000" swAng="5400000"/>
                <a:lnTo>
                  <a:pt x="2298700" y="101600"/>
                </a:lnTo>
                <a:arcTo wR="101600" hR="50800" stAng="0" swAng="-5400000"/>
                <a:lnTo>
                  <a:pt x="101600" y="50800"/>
                </a:lnTo>
                <a:arcTo wR="101600" hR="50800" stAng="16200000" swAng="-5400000"/>
                <a:close/>
              </a:path>
            </a:pathLst>
          </a:custGeom>
          <a:solidFill>
            <a:srgbClr val="5A6676"/>
          </a:solidFill>
          <a:ln/>
        </p:spPr>
        <p:txBody>
          <a:bodyPr/>
          <a:lstStyle/>
          <a:p>
            <a:endParaRPr lang="en-US"/>
          </a:p>
        </p:txBody>
      </p:sp>
      <p:sp>
        <p:nvSpPr>
          <p:cNvPr id="8" name="Text 5"/>
          <p:cNvSpPr/>
          <p:nvPr/>
        </p:nvSpPr>
        <p:spPr>
          <a:xfrm>
            <a:off x="1041400" y="2250380"/>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A6676"/>
                </a:solidFill>
                <a:latin typeface="Public Sans" pitchFamily="34" charset="0"/>
                <a:ea typeface="Public Sans" pitchFamily="34" charset="-122"/>
                <a:cs typeface="Public Sans" pitchFamily="34" charset="-120"/>
              </a:rPr>
              <a:t>COMPLETE</a:t>
            </a:r>
            <a:endParaRPr lang="en-US" sz="1200" dirty="0"/>
          </a:p>
        </p:txBody>
      </p:sp>
      <p:sp>
        <p:nvSpPr>
          <p:cNvPr id="9" name="Text 6"/>
          <p:cNvSpPr/>
          <p:nvPr/>
        </p:nvSpPr>
        <p:spPr>
          <a:xfrm>
            <a:off x="1041400" y="2539901"/>
            <a:ext cx="189674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C2340"/>
                </a:solidFill>
                <a:latin typeface="Oswald" pitchFamily="34" charset="0"/>
                <a:ea typeface="Oswald" pitchFamily="34" charset="-122"/>
                <a:cs typeface="Oswald" pitchFamily="34" charset="-120"/>
              </a:rPr>
              <a:t>0 · Prototype</a:t>
            </a:r>
            <a:endParaRPr lang="en-US" sz="2200" dirty="0"/>
          </a:p>
        </p:txBody>
      </p:sp>
      <p:sp>
        <p:nvSpPr>
          <p:cNvPr id="10" name="Text 7"/>
          <p:cNvSpPr/>
          <p:nvPr/>
        </p:nvSpPr>
        <p:spPr>
          <a:xfrm>
            <a:off x="1041400" y="2951361"/>
            <a:ext cx="1896745"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Agent Builder build</a:t>
            </a:r>
            <a:endParaRPr lang="en-US" sz="1300" dirty="0"/>
          </a:p>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Code twin + evals</a:t>
            </a:r>
            <a:endParaRPr lang="en-US" sz="1300" dirty="0"/>
          </a:p>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v2 prompt candidate</a:t>
            </a:r>
            <a:endParaRPr lang="en-US" sz="1300" dirty="0"/>
          </a:p>
        </p:txBody>
      </p:sp>
      <p:pic>
        <p:nvPicPr>
          <p:cNvPr id="11" name="Image 1" descr="diamond"/>
          <p:cNvPicPr>
            <a:picLocks noChangeAspect="1"/>
          </p:cNvPicPr>
          <p:nvPr/>
        </p:nvPicPr>
        <p:blipFill>
          <a:blip r:embed="rId4"/>
          <a:srcRect/>
          <a:stretch/>
        </p:blipFill>
        <p:spPr>
          <a:xfrm>
            <a:off x="3213100" y="2927201"/>
            <a:ext cx="254000" cy="254000"/>
          </a:xfrm>
          <a:prstGeom prst="rect">
            <a:avLst/>
          </a:prstGeom>
        </p:spPr>
      </p:pic>
      <p:sp>
        <p:nvSpPr>
          <p:cNvPr id="12" name="Shape 8"/>
          <p:cNvSpPr/>
          <p:nvPr/>
        </p:nvSpPr>
        <p:spPr>
          <a:xfrm>
            <a:off x="3568700" y="1970980"/>
            <a:ext cx="2298700" cy="2166441"/>
          </a:xfrm>
          <a:prstGeom prst="roundRect">
            <a:avLst>
              <a:gd name="adj" fmla="val 4690"/>
            </a:avLst>
          </a:prstGeom>
          <a:solidFill>
            <a:srgbClr val="0C2340"/>
          </a:solidFill>
          <a:ln/>
        </p:spPr>
        <p:txBody>
          <a:bodyPr/>
          <a:lstStyle/>
          <a:p>
            <a:endParaRPr lang="en-US"/>
          </a:p>
        </p:txBody>
      </p:sp>
      <p:sp>
        <p:nvSpPr>
          <p:cNvPr id="13" name="Shape 9"/>
          <p:cNvSpPr/>
          <p:nvPr/>
        </p:nvSpPr>
        <p:spPr>
          <a:xfrm>
            <a:off x="3568700" y="1970980"/>
            <a:ext cx="2298700" cy="2166441"/>
          </a:xfrm>
          <a:custGeom>
            <a:avLst/>
            <a:gdLst/>
            <a:ahLst/>
            <a:cxnLst/>
            <a:rect l="l" t="t" r="r" b="b"/>
            <a:pathLst>
              <a:path w="2298700" h="2166441">
                <a:moveTo>
                  <a:pt x="0" y="101600"/>
                </a:moveTo>
                <a:lnTo>
                  <a:pt x="0" y="101600"/>
                </a:lnTo>
                <a:arcTo wR="101600" hR="101600" stAng="10800000" swAng="5400000"/>
                <a:lnTo>
                  <a:pt x="2197100" y="0"/>
                </a:lnTo>
                <a:arcTo wR="101600" hR="101600" stAng="16200000" swAng="5400000"/>
                <a:lnTo>
                  <a:pt x="2298700" y="101600"/>
                </a:lnTo>
                <a:arcTo wR="101600" hR="50800" stAng="0" swAng="-5400000"/>
                <a:lnTo>
                  <a:pt x="101600" y="50800"/>
                </a:lnTo>
                <a:arcTo wR="101600" hR="50800" stAng="16200000" swAng="-5400000"/>
                <a:close/>
              </a:path>
            </a:pathLst>
          </a:custGeom>
          <a:solidFill>
            <a:srgbClr val="C81E38"/>
          </a:solidFill>
          <a:ln/>
        </p:spPr>
        <p:txBody>
          <a:bodyPr/>
          <a:lstStyle/>
          <a:p>
            <a:endParaRPr lang="en-US"/>
          </a:p>
        </p:txBody>
      </p:sp>
      <p:sp>
        <p:nvSpPr>
          <p:cNvPr id="14" name="Text 10"/>
          <p:cNvSpPr/>
          <p:nvPr/>
        </p:nvSpPr>
        <p:spPr>
          <a:xfrm>
            <a:off x="3797300" y="2250380"/>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Public Sans" pitchFamily="34" charset="0"/>
                <a:ea typeface="Public Sans" pitchFamily="34" charset="-122"/>
                <a:cs typeface="Public Sans" pitchFamily="34" charset="-120"/>
              </a:rPr>
              <a:t>NEXT STEP</a:t>
            </a:r>
            <a:endParaRPr lang="en-US" sz="1200" dirty="0"/>
          </a:p>
        </p:txBody>
      </p:sp>
      <p:sp>
        <p:nvSpPr>
          <p:cNvPr id="15" name="Text 11"/>
          <p:cNvSpPr/>
          <p:nvPr/>
        </p:nvSpPr>
        <p:spPr>
          <a:xfrm>
            <a:off x="3797300" y="2539901"/>
            <a:ext cx="189674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7F4EC"/>
                </a:solidFill>
                <a:latin typeface="Oswald" pitchFamily="34" charset="0"/>
                <a:ea typeface="Oswald" pitchFamily="34" charset="-122"/>
                <a:cs typeface="Oswald" pitchFamily="34" charset="-120"/>
              </a:rPr>
              <a:t>1 · Harden</a:t>
            </a:r>
            <a:endParaRPr lang="en-US" sz="2200" dirty="0"/>
          </a:p>
        </p:txBody>
      </p:sp>
      <p:sp>
        <p:nvSpPr>
          <p:cNvPr id="16" name="Text 12"/>
          <p:cNvSpPr/>
          <p:nvPr/>
        </p:nvSpPr>
        <p:spPr>
          <a:xfrm>
            <a:off x="3797300" y="2951361"/>
            <a:ext cx="1896745"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DE4EE"/>
                </a:solidFill>
                <a:latin typeface="Public Sans" pitchFamily="34" charset="0"/>
                <a:ea typeface="Public Sans" pitchFamily="34" charset="-122"/>
                <a:cs typeface="Public Sans" pitchFamily="34" charset="-120"/>
              </a:rPr>
              <a:t>Container in GovCloud</a:t>
            </a:r>
            <a:endParaRPr lang="en-US" sz="1300" dirty="0"/>
          </a:p>
          <a:p>
            <a:pPr marL="0" indent="0" algn="l">
              <a:lnSpc>
                <a:spcPts val="1885"/>
              </a:lnSpc>
              <a:buNone/>
            </a:pPr>
            <a:r>
              <a:rPr lang="en-US" sz="1300" dirty="0">
                <a:solidFill>
                  <a:srgbClr val="DDE4EE"/>
                </a:solidFill>
                <a:latin typeface="Public Sans" pitchFamily="34" charset="0"/>
                <a:ea typeface="Public Sans" pitchFamily="34" charset="-122"/>
                <a:cs typeface="Public Sans" pitchFamily="34" charset="-120"/>
              </a:rPr>
              <a:t>Bedrock model</a:t>
            </a:r>
            <a:endParaRPr lang="en-US" sz="1300" dirty="0"/>
          </a:p>
          <a:p>
            <a:pPr marL="0" indent="0" algn="l">
              <a:lnSpc>
                <a:spcPts val="1885"/>
              </a:lnSpc>
              <a:buNone/>
            </a:pPr>
            <a:r>
              <a:rPr lang="en-US" sz="1300" dirty="0">
                <a:solidFill>
                  <a:srgbClr val="DDE4EE"/>
                </a:solidFill>
                <a:latin typeface="Public Sans" pitchFamily="34" charset="0"/>
                <a:ea typeface="Public Sans" pitchFamily="34" charset="-122"/>
                <a:cs typeface="Public Sans" pitchFamily="34" charset="-120"/>
              </a:rPr>
              <a:t>MCCS content API</a:t>
            </a:r>
            <a:endParaRPr lang="en-US" sz="1300" dirty="0"/>
          </a:p>
          <a:p>
            <a:pPr marL="0" indent="0" algn="l">
              <a:lnSpc>
                <a:spcPts val="1885"/>
              </a:lnSpc>
              <a:buNone/>
            </a:pPr>
            <a:r>
              <a:rPr lang="en-US" sz="1300" dirty="0">
                <a:solidFill>
                  <a:srgbClr val="DDE4EE"/>
                </a:solidFill>
                <a:latin typeface="Public Sans" pitchFamily="34" charset="0"/>
                <a:ea typeface="Public Sans" pitchFamily="34" charset="-122"/>
                <a:cs typeface="Public Sans" pitchFamily="34" charset="-120"/>
              </a:rPr>
              <a:t>Per-base fact cards</a:t>
            </a:r>
            <a:endParaRPr lang="en-US" sz="1300" dirty="0"/>
          </a:p>
        </p:txBody>
      </p:sp>
      <p:pic>
        <p:nvPicPr>
          <p:cNvPr id="17" name="Image 2" descr="diamond"/>
          <p:cNvPicPr>
            <a:picLocks noChangeAspect="1"/>
          </p:cNvPicPr>
          <p:nvPr/>
        </p:nvPicPr>
        <p:blipFill>
          <a:blip r:embed="rId4"/>
          <a:srcRect/>
          <a:stretch/>
        </p:blipFill>
        <p:spPr>
          <a:xfrm>
            <a:off x="5969000" y="2927201"/>
            <a:ext cx="254000" cy="254000"/>
          </a:xfrm>
          <a:prstGeom prst="rect">
            <a:avLst/>
          </a:prstGeom>
        </p:spPr>
      </p:pic>
      <p:sp>
        <p:nvSpPr>
          <p:cNvPr id="18" name="Shape 13"/>
          <p:cNvSpPr/>
          <p:nvPr/>
        </p:nvSpPr>
        <p:spPr>
          <a:xfrm>
            <a:off x="6324600" y="1970980"/>
            <a:ext cx="2298700" cy="2166441"/>
          </a:xfrm>
          <a:prstGeom prst="roundRect">
            <a:avLst>
              <a:gd name="adj" fmla="val 4690"/>
            </a:avLst>
          </a:prstGeom>
          <a:solidFill>
            <a:srgbClr val="FFFFFF"/>
          </a:solidFill>
          <a:ln/>
        </p:spPr>
        <p:txBody>
          <a:bodyPr/>
          <a:lstStyle/>
          <a:p>
            <a:endParaRPr lang="en-US"/>
          </a:p>
        </p:txBody>
      </p:sp>
      <p:sp>
        <p:nvSpPr>
          <p:cNvPr id="19" name="Shape 14"/>
          <p:cNvSpPr/>
          <p:nvPr/>
        </p:nvSpPr>
        <p:spPr>
          <a:xfrm>
            <a:off x="6324600" y="1970980"/>
            <a:ext cx="2298700" cy="2166441"/>
          </a:xfrm>
          <a:custGeom>
            <a:avLst/>
            <a:gdLst/>
            <a:ahLst/>
            <a:cxnLst/>
            <a:rect l="l" t="t" r="r" b="b"/>
            <a:pathLst>
              <a:path w="2298700" h="2166441">
                <a:moveTo>
                  <a:pt x="0" y="101600"/>
                </a:moveTo>
                <a:lnTo>
                  <a:pt x="0" y="101600"/>
                </a:lnTo>
                <a:arcTo wR="101600" hR="101600" stAng="10800000" swAng="5400000"/>
                <a:lnTo>
                  <a:pt x="2197100" y="0"/>
                </a:lnTo>
                <a:arcTo wR="101600" hR="101600" stAng="16200000" swAng="5400000"/>
                <a:lnTo>
                  <a:pt x="2298700" y="101600"/>
                </a:lnTo>
                <a:arcTo wR="101600" hR="50800" stAng="0" swAng="-5400000"/>
                <a:lnTo>
                  <a:pt x="101600" y="50800"/>
                </a:lnTo>
                <a:arcTo wR="101600" hR="50800" stAng="16200000" swAng="-5400000"/>
                <a:close/>
              </a:path>
            </a:pathLst>
          </a:custGeom>
          <a:solidFill>
            <a:srgbClr val="0C2340"/>
          </a:solidFill>
          <a:ln/>
        </p:spPr>
        <p:txBody>
          <a:bodyPr/>
          <a:lstStyle/>
          <a:p>
            <a:endParaRPr lang="en-US"/>
          </a:p>
        </p:txBody>
      </p:sp>
      <p:sp>
        <p:nvSpPr>
          <p:cNvPr id="20" name="Text 15"/>
          <p:cNvSpPr/>
          <p:nvPr/>
        </p:nvSpPr>
        <p:spPr>
          <a:xfrm>
            <a:off x="6553200" y="2250380"/>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A6676"/>
                </a:solidFill>
                <a:latin typeface="Public Sans" pitchFamily="34" charset="0"/>
                <a:ea typeface="Public Sans" pitchFamily="34" charset="-122"/>
                <a:cs typeface="Public Sans" pitchFamily="34" charset="-120"/>
              </a:rPr>
              <a:t>ONE BASE</a:t>
            </a:r>
            <a:endParaRPr lang="en-US" sz="1200" dirty="0"/>
          </a:p>
        </p:txBody>
      </p:sp>
      <p:sp>
        <p:nvSpPr>
          <p:cNvPr id="21" name="Text 16"/>
          <p:cNvSpPr/>
          <p:nvPr/>
        </p:nvSpPr>
        <p:spPr>
          <a:xfrm>
            <a:off x="6553200" y="2539901"/>
            <a:ext cx="189674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C2340"/>
                </a:solidFill>
                <a:latin typeface="Oswald" pitchFamily="34" charset="0"/>
                <a:ea typeface="Oswald" pitchFamily="34" charset="-122"/>
                <a:cs typeface="Oswald" pitchFamily="34" charset="-120"/>
              </a:rPr>
              <a:t>2 · Pilot</a:t>
            </a:r>
            <a:endParaRPr lang="en-US" sz="2200" dirty="0"/>
          </a:p>
        </p:txBody>
      </p:sp>
      <p:sp>
        <p:nvSpPr>
          <p:cNvPr id="22" name="Text 17"/>
          <p:cNvSpPr/>
          <p:nvPr/>
        </p:nvSpPr>
        <p:spPr>
          <a:xfrm>
            <a:off x="6553200" y="2951361"/>
            <a:ext cx="1896745"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Base subsite widget</a:t>
            </a:r>
            <a:endParaRPr lang="en-US" sz="1300" dirty="0"/>
          </a:p>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Nightly drift checks</a:t>
            </a:r>
            <a:endParaRPr lang="en-US" sz="1300" dirty="0"/>
          </a:p>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User feedback loop</a:t>
            </a:r>
            <a:endParaRPr lang="en-US" sz="1300" dirty="0"/>
          </a:p>
        </p:txBody>
      </p:sp>
      <p:pic>
        <p:nvPicPr>
          <p:cNvPr id="23" name="Image 3" descr="diamond"/>
          <p:cNvPicPr>
            <a:picLocks noChangeAspect="1"/>
          </p:cNvPicPr>
          <p:nvPr/>
        </p:nvPicPr>
        <p:blipFill>
          <a:blip r:embed="rId4"/>
          <a:srcRect/>
          <a:stretch/>
        </p:blipFill>
        <p:spPr>
          <a:xfrm>
            <a:off x="8724900" y="2927201"/>
            <a:ext cx="254000" cy="254000"/>
          </a:xfrm>
          <a:prstGeom prst="rect">
            <a:avLst/>
          </a:prstGeom>
        </p:spPr>
      </p:pic>
      <p:sp>
        <p:nvSpPr>
          <p:cNvPr id="24" name="Shape 18"/>
          <p:cNvSpPr/>
          <p:nvPr/>
        </p:nvSpPr>
        <p:spPr>
          <a:xfrm>
            <a:off x="9080500" y="1970980"/>
            <a:ext cx="2298700" cy="2166441"/>
          </a:xfrm>
          <a:prstGeom prst="roundRect">
            <a:avLst>
              <a:gd name="adj" fmla="val 4690"/>
            </a:avLst>
          </a:prstGeom>
          <a:solidFill>
            <a:srgbClr val="FFFFFF"/>
          </a:solidFill>
          <a:ln/>
        </p:spPr>
        <p:txBody>
          <a:bodyPr/>
          <a:lstStyle/>
          <a:p>
            <a:endParaRPr lang="en-US"/>
          </a:p>
        </p:txBody>
      </p:sp>
      <p:sp>
        <p:nvSpPr>
          <p:cNvPr id="25" name="Shape 19"/>
          <p:cNvSpPr/>
          <p:nvPr/>
        </p:nvSpPr>
        <p:spPr>
          <a:xfrm>
            <a:off x="9080500" y="1970980"/>
            <a:ext cx="2298700" cy="2166441"/>
          </a:xfrm>
          <a:custGeom>
            <a:avLst/>
            <a:gdLst/>
            <a:ahLst/>
            <a:cxnLst/>
            <a:rect l="l" t="t" r="r" b="b"/>
            <a:pathLst>
              <a:path w="2298700" h="2166441">
                <a:moveTo>
                  <a:pt x="0" y="101600"/>
                </a:moveTo>
                <a:lnTo>
                  <a:pt x="0" y="101600"/>
                </a:lnTo>
                <a:arcTo wR="101600" hR="101600" stAng="10800000" swAng="5400000"/>
                <a:lnTo>
                  <a:pt x="2197100" y="0"/>
                </a:lnTo>
                <a:arcTo wR="101600" hR="101600" stAng="16200000" swAng="5400000"/>
                <a:lnTo>
                  <a:pt x="2298700" y="101600"/>
                </a:lnTo>
                <a:arcTo wR="101600" hR="50800" stAng="0" swAng="-5400000"/>
                <a:lnTo>
                  <a:pt x="101600" y="50800"/>
                </a:lnTo>
                <a:arcTo wR="101600" hR="50800" stAng="16200000" swAng="-5400000"/>
                <a:close/>
              </a:path>
            </a:pathLst>
          </a:custGeom>
          <a:solidFill>
            <a:srgbClr val="0C2340"/>
          </a:solidFill>
          <a:ln/>
        </p:spPr>
        <p:txBody>
          <a:bodyPr/>
          <a:lstStyle/>
          <a:p>
            <a:endParaRPr lang="en-US"/>
          </a:p>
        </p:txBody>
      </p:sp>
      <p:sp>
        <p:nvSpPr>
          <p:cNvPr id="26" name="Text 20"/>
          <p:cNvSpPr/>
          <p:nvPr/>
        </p:nvSpPr>
        <p:spPr>
          <a:xfrm>
            <a:off x="9309100" y="2250380"/>
            <a:ext cx="18967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A6676"/>
                </a:solidFill>
                <a:latin typeface="Public Sans" pitchFamily="34" charset="0"/>
                <a:ea typeface="Public Sans" pitchFamily="34" charset="-122"/>
                <a:cs typeface="Public Sans" pitchFamily="34" charset="-120"/>
              </a:rPr>
              <a:t>ENTERPRISE</a:t>
            </a:r>
            <a:endParaRPr lang="en-US" sz="1200" dirty="0"/>
          </a:p>
        </p:txBody>
      </p:sp>
      <p:sp>
        <p:nvSpPr>
          <p:cNvPr id="27" name="Text 21"/>
          <p:cNvSpPr/>
          <p:nvPr/>
        </p:nvSpPr>
        <p:spPr>
          <a:xfrm>
            <a:off x="9309100" y="2539901"/>
            <a:ext cx="189674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C2340"/>
                </a:solidFill>
                <a:latin typeface="Oswald" pitchFamily="34" charset="0"/>
                <a:ea typeface="Oswald" pitchFamily="34" charset="-122"/>
                <a:cs typeface="Oswald" pitchFamily="34" charset="-120"/>
              </a:rPr>
              <a:t>3 · Scale</a:t>
            </a:r>
            <a:endParaRPr lang="en-US" sz="2200" dirty="0"/>
          </a:p>
        </p:txBody>
      </p:sp>
      <p:sp>
        <p:nvSpPr>
          <p:cNvPr id="28" name="Text 22"/>
          <p:cNvSpPr/>
          <p:nvPr/>
        </p:nvSpPr>
        <p:spPr>
          <a:xfrm>
            <a:off x="9309100" y="2951361"/>
            <a:ext cx="1896745"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All base subsites</a:t>
            </a:r>
            <a:endParaRPr lang="en-US" sz="1300" dirty="0"/>
          </a:p>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MCCS Connect app</a:t>
            </a:r>
            <a:endParaRPr lang="en-US" sz="1300" dirty="0"/>
          </a:p>
          <a:p>
            <a:pPr marL="0" indent="0" algn="l">
              <a:lnSpc>
                <a:spcPts val="1885"/>
              </a:lnSpc>
              <a:buNone/>
            </a:pPr>
            <a:r>
              <a:rPr lang="en-US" sz="1300" dirty="0">
                <a:solidFill>
                  <a:srgbClr val="3D4B5C"/>
                </a:solidFill>
                <a:latin typeface="Public Sans" pitchFamily="34" charset="0"/>
                <a:ea typeface="Public Sans" pitchFamily="34" charset="-122"/>
                <a:cs typeface="Public Sans" pitchFamily="34" charset="-120"/>
              </a:rPr>
              <a:t>Content owners</a:t>
            </a:r>
            <a:endParaRPr lang="en-US" sz="1300" dirty="0"/>
          </a:p>
        </p:txBody>
      </p:sp>
      <p:sp>
        <p:nvSpPr>
          <p:cNvPr id="29" name="Text 23"/>
          <p:cNvSpPr/>
          <p:nvPr/>
        </p:nvSpPr>
        <p:spPr>
          <a:xfrm>
            <a:off x="812800" y="4442222"/>
            <a:ext cx="10883392" cy="28317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0C2340"/>
                </a:solidFill>
                <a:latin typeface="Public Sans" pitchFamily="34" charset="0"/>
                <a:ea typeface="Public Sans" pitchFamily="34" charset="-122"/>
                <a:cs typeface="Public Sans" pitchFamily="34" charset="-120"/>
              </a:rPr>
              <a:t>Gates:</a:t>
            </a:r>
            <a:r>
              <a:rPr lang="en-US" sz="1400" dirty="0">
                <a:solidFill>
                  <a:srgbClr val="3D4B5C"/>
                </a:solidFill>
                <a:latin typeface="Public Sans" pitchFamily="34" charset="0"/>
                <a:ea typeface="Public Sans" pitchFamily="34" charset="-122"/>
                <a:cs typeface="Public Sans" pitchFamily="34" charset="-120"/>
              </a:rPr>
              <a:t> all safety cases pass and prompt approved · DoW security test and ATO · pilot accuracy and user feedback</a:t>
            </a:r>
            <a:endParaRPr lang="en-US" sz="1400" dirty="0"/>
          </a:p>
        </p:txBody>
      </p:sp>
      <p:sp>
        <p:nvSpPr>
          <p:cNvPr id="30" name="Text 2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31" name="Text 25"/>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THE HANDOFF</a:t>
            </a:r>
            <a:endParaRPr lang="en-US" sz="1400" dirty="0"/>
          </a:p>
        </p:txBody>
      </p:sp>
      <p:sp>
        <p:nvSpPr>
          <p:cNvPr id="5" name="Text 2"/>
          <p:cNvSpPr>
            <a:spLocks noGrp="1"/>
          </p:cNvSpPr>
          <p:nvPr>
            <p:ph type="title"/>
          </p:nvPr>
        </p:nvSpPr>
        <p:spPr>
          <a:xfrm>
            <a:off x="812800" y="11632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What MCCS provides, what the team delivers</a:t>
            </a:r>
            <a:endParaRPr lang="en-US" sz="3600" dirty="0"/>
          </a:p>
        </p:txBody>
      </p:sp>
      <p:sp>
        <p:nvSpPr>
          <p:cNvPr id="6" name="Shape 3"/>
          <p:cNvSpPr/>
          <p:nvPr/>
        </p:nvSpPr>
        <p:spPr>
          <a:xfrm>
            <a:off x="812800" y="1970980"/>
            <a:ext cx="5156200" cy="2395190"/>
          </a:xfrm>
          <a:prstGeom prst="roundRect">
            <a:avLst>
              <a:gd name="adj" fmla="val 4242"/>
            </a:avLst>
          </a:prstGeom>
          <a:solidFill>
            <a:srgbClr val="0C2340"/>
          </a:solidFill>
          <a:ln/>
        </p:spPr>
        <p:txBody>
          <a:bodyPr/>
          <a:lstStyle/>
          <a:p>
            <a:endParaRPr lang="en-US"/>
          </a:p>
        </p:txBody>
      </p:sp>
      <p:sp>
        <p:nvSpPr>
          <p:cNvPr id="7" name="Text 4"/>
          <p:cNvSpPr/>
          <p:nvPr/>
        </p:nvSpPr>
        <p:spPr>
          <a:xfrm>
            <a:off x="1117600" y="2275780"/>
            <a:ext cx="468299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Public Sans" pitchFamily="34" charset="0"/>
                <a:ea typeface="Public Sans" pitchFamily="34" charset="-122"/>
                <a:cs typeface="Public Sans" pitchFamily="34" charset="-120"/>
              </a:rPr>
              <a:t>MCCS provides</a:t>
            </a:r>
            <a:endParaRPr lang="en-US" sz="1800" dirty="0"/>
          </a:p>
        </p:txBody>
      </p:sp>
      <p:sp>
        <p:nvSpPr>
          <p:cNvPr id="8" name="Text 5"/>
          <p:cNvSpPr/>
          <p:nvPr/>
        </p:nvSpPr>
        <p:spPr>
          <a:xfrm>
            <a:off x="1202182" y="2677071"/>
            <a:ext cx="4590796"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DDE4EE"/>
                </a:solidFill>
                <a:latin typeface="Public Sans" pitchFamily="34" charset="0"/>
                <a:ea typeface="Public Sans" pitchFamily="34" charset="-122"/>
                <a:cs typeface="Public Sans" pitchFamily="34" charset="-120"/>
              </a:rPr>
              <a:t>A sponsor and a pilot installation</a:t>
            </a:r>
            <a:endParaRPr lang="en-US" sz="1400" dirty="0"/>
          </a:p>
          <a:p>
            <a:pPr marL="169418" indent="-169418" algn="l">
              <a:lnSpc>
                <a:spcPts val="2100"/>
              </a:lnSpc>
              <a:buSzPct val="100000"/>
              <a:buChar char="•"/>
            </a:pPr>
            <a:r>
              <a:rPr lang="en-US" sz="1400" dirty="0">
                <a:solidFill>
                  <a:srgbClr val="DDE4EE"/>
                </a:solidFill>
                <a:latin typeface="Public Sans" pitchFamily="34" charset="0"/>
                <a:ea typeface="Public Sans" pitchFamily="34" charset="-122"/>
                <a:cs typeface="Public Sans" pitchFamily="34" charset="-120"/>
              </a:rPr>
              <a:t>Read access to the MCCS content API</a:t>
            </a:r>
            <a:endParaRPr lang="en-US" sz="1400" dirty="0"/>
          </a:p>
          <a:p>
            <a:pPr marL="169418" indent="-169418" algn="l">
              <a:lnSpc>
                <a:spcPts val="2100"/>
              </a:lnSpc>
              <a:buSzPct val="100000"/>
              <a:buChar char="•"/>
            </a:pPr>
            <a:r>
              <a:rPr lang="en-US" sz="1400" dirty="0">
                <a:solidFill>
                  <a:srgbClr val="DDE4EE"/>
                </a:solidFill>
                <a:latin typeface="Public Sans" pitchFamily="34" charset="0"/>
                <a:ea typeface="Public Sans" pitchFamily="34" charset="-122"/>
                <a:cs typeface="Public Sans" pitchFamily="34" charset="-120"/>
              </a:rPr>
              <a:t>A content owner per installation</a:t>
            </a:r>
            <a:endParaRPr lang="en-US" sz="1400" dirty="0"/>
          </a:p>
          <a:p>
            <a:pPr marL="169418" indent="-169418" algn="l">
              <a:lnSpc>
                <a:spcPts val="2100"/>
              </a:lnSpc>
              <a:buSzPct val="100000"/>
              <a:buChar char="•"/>
            </a:pPr>
            <a:r>
              <a:rPr lang="en-US" sz="1400" dirty="0">
                <a:solidFill>
                  <a:srgbClr val="DDE4EE"/>
                </a:solidFill>
                <a:latin typeface="Public Sans" pitchFamily="34" charset="0"/>
                <a:ea typeface="Public Sans" pitchFamily="34" charset="-122"/>
                <a:cs typeface="Public Sans" pitchFamily="34" charset="-120"/>
              </a:rPr>
              <a:t>GovCloud with Bedrock, and an ATO path</a:t>
            </a:r>
            <a:endParaRPr lang="en-US" sz="1400" dirty="0"/>
          </a:p>
          <a:p>
            <a:pPr marL="169418" indent="-169418" algn="l">
              <a:lnSpc>
                <a:spcPts val="2100"/>
              </a:lnSpc>
              <a:buSzPct val="100000"/>
              <a:buChar char="•"/>
            </a:pPr>
            <a:r>
              <a:rPr lang="en-US" sz="1400" dirty="0">
                <a:solidFill>
                  <a:srgbClr val="DDE4EE"/>
                </a:solidFill>
                <a:latin typeface="Public Sans" pitchFamily="34" charset="0"/>
                <a:ea typeface="Public Sans" pitchFamily="34" charset="-122"/>
                <a:cs typeface="Public Sans" pitchFamily="34" charset="-120"/>
              </a:rPr>
              <a:t>A product owner for prompt changes</a:t>
            </a:r>
            <a:endParaRPr lang="en-US" sz="1400" dirty="0"/>
          </a:p>
        </p:txBody>
      </p:sp>
      <p:sp>
        <p:nvSpPr>
          <p:cNvPr id="9" name="Shape 6"/>
          <p:cNvSpPr/>
          <p:nvPr/>
        </p:nvSpPr>
        <p:spPr>
          <a:xfrm>
            <a:off x="6223000" y="1970980"/>
            <a:ext cx="5156200" cy="2395190"/>
          </a:xfrm>
          <a:prstGeom prst="roundRect">
            <a:avLst>
              <a:gd name="adj" fmla="val 4242"/>
            </a:avLst>
          </a:prstGeom>
          <a:solidFill>
            <a:srgbClr val="FFFFFF"/>
          </a:solidFill>
          <a:ln/>
        </p:spPr>
        <p:txBody>
          <a:bodyPr/>
          <a:lstStyle/>
          <a:p>
            <a:endParaRPr lang="en-US"/>
          </a:p>
        </p:txBody>
      </p:sp>
      <p:sp>
        <p:nvSpPr>
          <p:cNvPr id="10" name="Shape 7"/>
          <p:cNvSpPr/>
          <p:nvPr/>
        </p:nvSpPr>
        <p:spPr>
          <a:xfrm>
            <a:off x="6223000" y="1970980"/>
            <a:ext cx="5156200" cy="2395190"/>
          </a:xfrm>
          <a:custGeom>
            <a:avLst/>
            <a:gdLst/>
            <a:ahLst/>
            <a:cxnLst/>
            <a:rect l="l" t="t" r="r" b="b"/>
            <a:pathLst>
              <a:path w="5156200" h="2395190">
                <a:moveTo>
                  <a:pt x="0" y="101600"/>
                </a:moveTo>
                <a:lnTo>
                  <a:pt x="0" y="101600"/>
                </a:lnTo>
                <a:arcTo wR="101600" hR="101600" stAng="10800000" swAng="5400000"/>
                <a:lnTo>
                  <a:pt x="5054600" y="0"/>
                </a:lnTo>
                <a:arcTo wR="101600" hR="101600" stAng="16200000" swAng="5400000"/>
                <a:lnTo>
                  <a:pt x="5156200" y="101600"/>
                </a:lnTo>
                <a:arcTo wR="101600" hR="50800" stAng="0" swAng="-5400000"/>
                <a:lnTo>
                  <a:pt x="101600" y="50800"/>
                </a:lnTo>
                <a:arcTo wR="101600" hR="50800" stAng="16200000" swAng="-5400000"/>
                <a:close/>
              </a:path>
            </a:pathLst>
          </a:custGeom>
          <a:solidFill>
            <a:srgbClr val="C81E38"/>
          </a:solidFill>
          <a:ln/>
        </p:spPr>
        <p:txBody>
          <a:bodyPr/>
          <a:lstStyle/>
          <a:p>
            <a:endParaRPr lang="en-US"/>
          </a:p>
        </p:txBody>
      </p:sp>
      <p:sp>
        <p:nvSpPr>
          <p:cNvPr id="11" name="Text 8"/>
          <p:cNvSpPr/>
          <p:nvPr/>
        </p:nvSpPr>
        <p:spPr>
          <a:xfrm>
            <a:off x="6527800" y="2326580"/>
            <a:ext cx="468299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C2340"/>
                </a:solidFill>
                <a:latin typeface="Public Sans" pitchFamily="34" charset="0"/>
                <a:ea typeface="Public Sans" pitchFamily="34" charset="-122"/>
                <a:cs typeface="Public Sans" pitchFamily="34" charset="-120"/>
              </a:rPr>
              <a:t>Team 3 delivers</a:t>
            </a:r>
            <a:endParaRPr lang="en-US" sz="1800" dirty="0"/>
          </a:p>
        </p:txBody>
      </p:sp>
      <p:sp>
        <p:nvSpPr>
          <p:cNvPr id="12" name="Text 9"/>
          <p:cNvSpPr/>
          <p:nvPr/>
        </p:nvSpPr>
        <p:spPr>
          <a:xfrm>
            <a:off x="6612382" y="2727871"/>
            <a:ext cx="4590796"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Source code, prompts, eval suite, demo page</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Dependencies and build/run instructions</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Container definition for GovCloud</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41-case test set, scorecards, transcripts</a:t>
            </a:r>
            <a:endParaRPr lang="en-US" sz="1400" dirty="0"/>
          </a:p>
          <a:p>
            <a:pPr marL="169418" indent="-169418" algn="l">
              <a:lnSpc>
                <a:spcPts val="2100"/>
              </a:lnSpc>
              <a:buSzPct val="100000"/>
              <a:buChar char="•"/>
            </a:pPr>
            <a:r>
              <a:rPr lang="en-US" sz="1400" dirty="0">
                <a:solidFill>
                  <a:srgbClr val="3D4B5C"/>
                </a:solidFill>
                <a:latin typeface="Public Sans" pitchFamily="34" charset="0"/>
                <a:ea typeface="Public Sans" pitchFamily="34" charset="-122"/>
                <a:cs typeface="Public Sans" pitchFamily="34" charset="-120"/>
              </a:rPr>
              <a:t>Change log with evidence per fix</a:t>
            </a:r>
            <a:endParaRPr lang="en-US" sz="1400" dirty="0"/>
          </a:p>
        </p:txBody>
      </p:sp>
      <p:sp>
        <p:nvSpPr>
          <p:cNvPr id="13" name="Text 10"/>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14" name="Text 11"/>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C81E38"/>
          </a:solidFill>
          <a:ln/>
        </p:spPr>
        <p:txBody>
          <a:bodyPr/>
          <a:lstStyle/>
          <a:p>
            <a:endParaRPr lang="en-US"/>
          </a:p>
        </p:txBody>
      </p:sp>
      <p:pic>
        <p:nvPicPr>
          <p:cNvPr id="3" name="Image 0" descr="Semper SI"/>
          <p:cNvPicPr>
            <a:picLocks noChangeAspect="1"/>
          </p:cNvPicPr>
          <p:nvPr/>
        </p:nvPicPr>
        <p:blipFill>
          <a:blip r:embed="rId3"/>
          <a:srcRect/>
          <a:stretch/>
        </p:blipFill>
        <p:spPr>
          <a:xfrm>
            <a:off x="10668000" y="254000"/>
            <a:ext cx="711200" cy="711200"/>
          </a:xfrm>
          <a:prstGeom prst="rect">
            <a:avLst/>
          </a:prstGeom>
        </p:spPr>
      </p:pic>
      <p:sp>
        <p:nvSpPr>
          <p:cNvPr id="4" name="Text 1"/>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C81E38"/>
                </a:solidFill>
                <a:latin typeface="Public Sans" pitchFamily="34" charset="0"/>
                <a:ea typeface="Public Sans" pitchFamily="34" charset="-122"/>
                <a:cs typeface="Public Sans" pitchFamily="34" charset="-120"/>
              </a:rPr>
              <a:t>LIMITATIONS &amp; RISKS</a:t>
            </a:r>
            <a:endParaRPr lang="en-US" sz="1400" dirty="0"/>
          </a:p>
        </p:txBody>
      </p:sp>
      <p:sp>
        <p:nvSpPr>
          <p:cNvPr id="5" name="Text 2"/>
          <p:cNvSpPr>
            <a:spLocks noGrp="1"/>
          </p:cNvSpPr>
          <p:nvPr>
            <p:ph type="title"/>
          </p:nvPr>
        </p:nvSpPr>
        <p:spPr>
          <a:xfrm>
            <a:off x="812800" y="116329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C2340"/>
                </a:solidFill>
                <a:latin typeface="Oswald" pitchFamily="34" charset="0"/>
                <a:ea typeface="Oswald" pitchFamily="34" charset="-122"/>
                <a:cs typeface="Oswald" pitchFamily="34" charset="-120"/>
              </a:rPr>
              <a:t>Wrong specifics remain the top risk; data, not prompts, closes it</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35771"/>
          <a:ext cx="10553700" cy="2515245"/>
        </p:xfrm>
        <a:graphic>
          <a:graphicData uri="http://schemas.openxmlformats.org/drawingml/2006/table">
            <a:tbl>
              <a:tblPr/>
              <a:tblGrid>
                <a:gridCol w="2532888">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F7F4EC"/>
                          </a:solidFill>
                          <a:latin typeface="Public Sans" pitchFamily="34" charset="0"/>
                          <a:ea typeface="Public Sans" pitchFamily="34" charset="-122"/>
                          <a:cs typeface="Public Sans" pitchFamily="34" charset="-120"/>
                        </a:rPr>
                        <a:t>Risk</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tc>
                  <a:txBody>
                    <a:bodyPr/>
                    <a:lstStyle/>
                    <a:p>
                      <a:pPr marL="0" indent="0">
                        <a:lnSpc>
                          <a:spcPts val="1820"/>
                        </a:lnSpc>
                        <a:buNone/>
                      </a:pPr>
                      <a:r>
                        <a:rPr lang="en-US" sz="1300" b="1" dirty="0">
                          <a:solidFill>
                            <a:srgbClr val="F7F4EC"/>
                          </a:solidFill>
                          <a:latin typeface="Public Sans" pitchFamily="34" charset="0"/>
                          <a:ea typeface="Public Sans" pitchFamily="34" charset="-122"/>
                          <a:cs typeface="Public Sans" pitchFamily="34" charset="-120"/>
                        </a:rPr>
                        <a:t>Evidence</a:t>
                      </a:r>
                      <a:endParaRPr lang="en-US" sz="1300" dirty="0">
                        <a:latin typeface="Public Sans" charset="0"/>
                        <a:ea typeface="Public Sans" charset="0"/>
                        <a:cs typeface="Public Sans" charset="0"/>
                      </a:endParaRPr>
                    </a:p>
                  </a:txBody>
                  <a:tcPr marL="57785" marR="57785" marT="57785" marB="57785">
                    <a:lnL w="12700" cap="flat" cmpd="sng" algn="ctr">
                      <a:solidFill>
                        <a:srgbClr val="0E2036"/>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tc>
                  <a:txBody>
                    <a:bodyPr/>
                    <a:lstStyle/>
                    <a:p>
                      <a:pPr marL="0" indent="0">
                        <a:lnSpc>
                          <a:spcPts val="1820"/>
                        </a:lnSpc>
                        <a:buNone/>
                      </a:pPr>
                      <a:r>
                        <a:rPr lang="en-US" sz="1300" b="1" dirty="0">
                          <a:solidFill>
                            <a:srgbClr val="F7F4EC"/>
                          </a:solidFill>
                          <a:latin typeface="Public Sans" pitchFamily="34" charset="0"/>
                          <a:ea typeface="Public Sans" pitchFamily="34" charset="-122"/>
                          <a:cs typeface="Public Sans" pitchFamily="34" charset="-120"/>
                        </a:rPr>
                        <a:t>Mitigation</a:t>
                      </a:r>
                      <a:endParaRPr lang="en-US" sz="1300" dirty="0">
                        <a:latin typeface="Public Sans" charset="0"/>
                        <a:ea typeface="Public Sans" charset="0"/>
                        <a:cs typeface="Public Sans" charset="0"/>
                      </a:endParaRPr>
                    </a:p>
                  </a:txBody>
                  <a:tcPr marL="57785" marR="57785" marT="57785" marB="57785">
                    <a:lnL w="12700" cap="flat" cmpd="sng" algn="ctr">
                      <a:solidFill>
                        <a:srgbClr val="0E2036"/>
                      </a:solidFill>
                      <a:prstDash val="solid"/>
                      <a:round/>
                      <a:headEnd type="none" w="med" len="med"/>
                      <a:tailEnd type="none" w="med" len="med"/>
                    </a:lnL>
                    <a:lnR w="12700" cap="flat" cmpd="sng" algn="ctr">
                      <a:solidFill>
                        <a:srgbClr val="0E203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0E2036"/>
                      </a:solidFill>
                      <a:prstDash val="solid"/>
                      <a:round/>
                      <a:headEnd type="none" w="med" len="med"/>
                      <a:tailEnd type="none" w="med" len="med"/>
                    </a:lnB>
                    <a:solidFill>
                      <a:srgbClr val="0C2340"/>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Wrong details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6 false facts; 4 cases still fail</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Fact cards, then content API</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E203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Stale MCCS pages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Official pages disagree on hours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Content owner fixes at source</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Latency, cost</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47 s median; $0.15 per chat</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Cap searches, faster model</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Answer length</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25 of 41 over 250 words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Tighter limit, “more detail?”</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Demo shortcuts</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Browser-held key, CORS off</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MCCS gateway; rotate demo key</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Test coverage</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One run per case; ADK twin only</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marL="0" indent="0">
                        <a:lnSpc>
                          <a:spcPts val="1820"/>
                        </a:lnSpc>
                        <a:buNone/>
                      </a:pPr>
                      <a:r>
                        <a:rPr lang="en-US" sz="1300" dirty="0">
                          <a:solidFill>
                            <a:srgbClr val="0C2340"/>
                          </a:solidFill>
                          <a:latin typeface="Public Sans" pitchFamily="34" charset="0"/>
                          <a:ea typeface="Public Sans" pitchFamily="34" charset="-122"/>
                          <a:cs typeface="Public Sans" pitchFamily="34" charset="-120"/>
                        </a:rPr>
                        <a:t>41 cases × 3 runs before pilot</a:t>
                      </a:r>
                      <a:endParaRPr lang="en-US" sz="1300" dirty="0">
                        <a:latin typeface="Public Sans" charset="0"/>
                        <a:ea typeface="Public Sans" charset="0"/>
                        <a:cs typeface="Public Sans" charset="0"/>
                      </a:endParaRPr>
                    </a:p>
                  </a:txBody>
                  <a:tcPr marL="57785" marR="57785" marT="57785" marB="57785">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6"/>
                </a:solidFill>
                <a:latin typeface="Public Sans" pitchFamily="34" charset="0"/>
                <a:ea typeface="Public Sans" pitchFamily="34" charset="-122"/>
                <a:cs typeface="Public Sans" pitchFamily="34" charset="-120"/>
              </a:rPr>
              <a:t>Semper SI · Team 3</a:t>
            </a:r>
            <a:endParaRPr lang="en-US" sz="1200" dirty="0"/>
          </a:p>
        </p:txBody>
      </p:sp>
      <p:sp>
        <p:nvSpPr>
          <p:cNvPr id="8" name="Text 4"/>
          <p:cNvSpPr/>
          <p:nvPr/>
        </p:nvSpPr>
        <p:spPr>
          <a:xfrm>
            <a:off x="10693400" y="6238280"/>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6"/>
                </a:solidFill>
                <a:latin typeface="Public Sans" pitchFamily="34" charset="0"/>
                <a:ea typeface="Public Sans" pitchFamily="34" charset="-122"/>
                <a:cs typeface="Public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2340"/>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C81E38"/>
          </a:solidFill>
          <a:ln/>
        </p:spPr>
        <p:txBody>
          <a:bodyPr/>
          <a:lstStyle/>
          <a:p>
            <a:endParaRPr lang="en-US"/>
          </a:p>
        </p:txBody>
      </p:sp>
      <p:sp>
        <p:nvSpPr>
          <p:cNvPr id="3" name="Shape 1"/>
          <p:cNvSpPr/>
          <p:nvPr/>
        </p:nvSpPr>
        <p:spPr>
          <a:xfrm>
            <a:off x="152400" y="0"/>
            <a:ext cx="76200" cy="6858000"/>
          </a:xfrm>
          <a:prstGeom prst="rect">
            <a:avLst/>
          </a:prstGeom>
          <a:solidFill>
            <a:srgbClr val="F5A524"/>
          </a:solidFill>
          <a:ln/>
        </p:spPr>
        <p:txBody>
          <a:bodyPr/>
          <a:lstStyle/>
          <a:p>
            <a:endParaRPr lang="en-US"/>
          </a:p>
        </p:txBody>
      </p:sp>
      <p:pic>
        <p:nvPicPr>
          <p:cNvPr id="4" name="Image 0" descr="Semper SI"/>
          <p:cNvPicPr>
            <a:picLocks noChangeAspect="1"/>
          </p:cNvPicPr>
          <p:nvPr/>
        </p:nvPicPr>
        <p:blipFill>
          <a:blip r:embed="rId3"/>
          <a:srcRect t="-149" b="-149"/>
          <a:stretch/>
        </p:blipFill>
        <p:spPr>
          <a:xfrm>
            <a:off x="8585200" y="609600"/>
            <a:ext cx="2794000" cy="952500"/>
          </a:xfrm>
          <a:prstGeom prst="rect">
            <a:avLst/>
          </a:prstGeom>
        </p:spPr>
      </p:pic>
      <p:sp>
        <p:nvSpPr>
          <p:cNvPr id="5" name="Text 2"/>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5A524"/>
                </a:solidFill>
                <a:latin typeface="Public Sans" pitchFamily="34" charset="0"/>
                <a:ea typeface="Public Sans" pitchFamily="34" charset="-122"/>
                <a:cs typeface="Public Sans" pitchFamily="34" charset="-120"/>
              </a:rPr>
              <a:t>TEAM SEMPER SI</a:t>
            </a:r>
            <a:endParaRPr lang="en-US" sz="1400" dirty="0"/>
          </a:p>
        </p:txBody>
      </p:sp>
      <p:sp>
        <p:nvSpPr>
          <p:cNvPr id="6" name="Text 3"/>
          <p:cNvSpPr>
            <a:spLocks noGrp="1"/>
          </p:cNvSpPr>
          <p:nvPr>
            <p:ph type="title"/>
          </p:nvPr>
        </p:nvSpPr>
        <p:spPr>
          <a:xfrm>
            <a:off x="812800" y="1163290"/>
            <a:ext cx="7521575"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4EC"/>
                </a:solidFill>
                <a:latin typeface="Oswald" pitchFamily="34" charset="0"/>
                <a:ea typeface="Oswald" pitchFamily="34" charset="-122"/>
                <a:cs typeface="Oswald" pitchFamily="34" charset="-120"/>
              </a:rPr>
              <a:t>Build, mirror, test, fix, approve, repeat</a:t>
            </a:r>
            <a:endParaRPr lang="en-US" sz="3600" dirty="0"/>
          </a:p>
        </p:txBody>
      </p:sp>
      <p:sp>
        <p:nvSpPr>
          <p:cNvPr id="7" name="Shape 4"/>
          <p:cNvSpPr/>
          <p:nvPr/>
        </p:nvSpPr>
        <p:spPr>
          <a:xfrm>
            <a:off x="812800" y="1977330"/>
            <a:ext cx="3386634" cy="0"/>
          </a:xfrm>
          <a:prstGeom prst="line">
            <a:avLst/>
          </a:prstGeom>
          <a:noFill/>
          <a:ln w="12700">
            <a:solidFill>
              <a:srgbClr val="3A5272"/>
            </a:solidFill>
            <a:prstDash val="solid"/>
          </a:ln>
        </p:spPr>
        <p:txBody>
          <a:bodyPr/>
          <a:lstStyle/>
          <a:p>
            <a:endParaRPr lang="en-US"/>
          </a:p>
        </p:txBody>
      </p:sp>
      <p:sp>
        <p:nvSpPr>
          <p:cNvPr id="8" name="Text 5"/>
          <p:cNvSpPr/>
          <p:nvPr/>
        </p:nvSpPr>
        <p:spPr>
          <a:xfrm>
            <a:off x="812800" y="2136080"/>
            <a:ext cx="34882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4EC"/>
                </a:solidFill>
                <a:latin typeface="Public Sans" pitchFamily="34" charset="0"/>
                <a:ea typeface="Public Sans" pitchFamily="34" charset="-122"/>
                <a:cs typeface="Public Sans" pitchFamily="34" charset="-120"/>
              </a:rPr>
              <a:t>LtCol Joshua Cox</a:t>
            </a:r>
            <a:endParaRPr lang="en-US" sz="1700" dirty="0"/>
          </a:p>
        </p:txBody>
      </p:sp>
      <p:sp>
        <p:nvSpPr>
          <p:cNvPr id="9" name="Text 6"/>
          <p:cNvSpPr/>
          <p:nvPr/>
        </p:nvSpPr>
        <p:spPr>
          <a:xfrm>
            <a:off x="812800" y="2445941"/>
            <a:ext cx="348823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0"/>
                </a:solidFill>
                <a:latin typeface="Public Sans" pitchFamily="34" charset="0"/>
                <a:ea typeface="Public Sans" pitchFamily="34" charset="-122"/>
                <a:cs typeface="Public Sans" pitchFamily="34" charset="-120"/>
              </a:rPr>
              <a:t>Team leader</a:t>
            </a:r>
            <a:endParaRPr lang="en-US" sz="1300" dirty="0"/>
          </a:p>
        </p:txBody>
      </p:sp>
      <p:sp>
        <p:nvSpPr>
          <p:cNvPr id="10" name="Shape 7"/>
          <p:cNvSpPr/>
          <p:nvPr/>
        </p:nvSpPr>
        <p:spPr>
          <a:xfrm>
            <a:off x="4402634" y="1977330"/>
            <a:ext cx="3386683" cy="0"/>
          </a:xfrm>
          <a:prstGeom prst="line">
            <a:avLst/>
          </a:prstGeom>
          <a:noFill/>
          <a:ln w="12700">
            <a:solidFill>
              <a:srgbClr val="3A5272"/>
            </a:solidFill>
            <a:prstDash val="solid"/>
          </a:ln>
        </p:spPr>
        <p:txBody>
          <a:bodyPr/>
          <a:lstStyle/>
          <a:p>
            <a:endParaRPr lang="en-US"/>
          </a:p>
        </p:txBody>
      </p:sp>
      <p:sp>
        <p:nvSpPr>
          <p:cNvPr id="11" name="Text 8"/>
          <p:cNvSpPr/>
          <p:nvPr/>
        </p:nvSpPr>
        <p:spPr>
          <a:xfrm>
            <a:off x="4402634" y="2136080"/>
            <a:ext cx="348828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4EC"/>
                </a:solidFill>
                <a:latin typeface="Public Sans" pitchFamily="34" charset="0"/>
                <a:ea typeface="Public Sans" pitchFamily="34" charset="-122"/>
                <a:cs typeface="Public Sans" pitchFamily="34" charset="-120"/>
              </a:rPr>
              <a:t>Maj Hector Alejandro</a:t>
            </a:r>
            <a:endParaRPr lang="en-US" sz="1700" dirty="0"/>
          </a:p>
        </p:txBody>
      </p:sp>
      <p:sp>
        <p:nvSpPr>
          <p:cNvPr id="12" name="Text 9"/>
          <p:cNvSpPr/>
          <p:nvPr/>
        </p:nvSpPr>
        <p:spPr>
          <a:xfrm>
            <a:off x="4402634" y="2445941"/>
            <a:ext cx="348828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0"/>
                </a:solidFill>
                <a:latin typeface="Public Sans" pitchFamily="34" charset="0"/>
                <a:ea typeface="Public Sans" pitchFamily="34" charset="-122"/>
                <a:cs typeface="Public Sans" pitchFamily="34" charset="-120"/>
              </a:rPr>
              <a:t>Agent, scripts and agent evaluation</a:t>
            </a:r>
            <a:endParaRPr lang="en-US" sz="1300" dirty="0"/>
          </a:p>
        </p:txBody>
      </p:sp>
      <p:sp>
        <p:nvSpPr>
          <p:cNvPr id="13" name="Shape 10"/>
          <p:cNvSpPr/>
          <p:nvPr/>
        </p:nvSpPr>
        <p:spPr>
          <a:xfrm>
            <a:off x="7992517" y="1977330"/>
            <a:ext cx="3386634" cy="0"/>
          </a:xfrm>
          <a:prstGeom prst="line">
            <a:avLst/>
          </a:prstGeom>
          <a:noFill/>
          <a:ln w="12700">
            <a:solidFill>
              <a:srgbClr val="3A5272"/>
            </a:solidFill>
            <a:prstDash val="solid"/>
          </a:ln>
        </p:spPr>
        <p:txBody>
          <a:bodyPr/>
          <a:lstStyle/>
          <a:p>
            <a:endParaRPr lang="en-US"/>
          </a:p>
        </p:txBody>
      </p:sp>
      <p:sp>
        <p:nvSpPr>
          <p:cNvPr id="14" name="Text 11"/>
          <p:cNvSpPr/>
          <p:nvPr/>
        </p:nvSpPr>
        <p:spPr>
          <a:xfrm>
            <a:off x="7992517" y="2136080"/>
            <a:ext cx="34882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4EC"/>
                </a:solidFill>
                <a:latin typeface="Public Sans" pitchFamily="34" charset="0"/>
                <a:ea typeface="Public Sans" pitchFamily="34" charset="-122"/>
                <a:cs typeface="Public Sans" pitchFamily="34" charset="-120"/>
              </a:rPr>
              <a:t>SSgt Seth Davis</a:t>
            </a:r>
            <a:endParaRPr lang="en-US" sz="1700" dirty="0"/>
          </a:p>
        </p:txBody>
      </p:sp>
      <p:sp>
        <p:nvSpPr>
          <p:cNvPr id="15" name="Text 12"/>
          <p:cNvSpPr/>
          <p:nvPr/>
        </p:nvSpPr>
        <p:spPr>
          <a:xfrm>
            <a:off x="7992517" y="2445941"/>
            <a:ext cx="348823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0"/>
                </a:solidFill>
                <a:latin typeface="Public Sans" pitchFamily="34" charset="0"/>
                <a:ea typeface="Public Sans" pitchFamily="34" charset="-122"/>
                <a:cs typeface="Public Sans" pitchFamily="34" charset="-120"/>
              </a:rPr>
              <a:t>HTML page and chatbot integration demo</a:t>
            </a:r>
            <a:endParaRPr lang="en-US" sz="1300" dirty="0"/>
          </a:p>
        </p:txBody>
      </p:sp>
      <p:sp>
        <p:nvSpPr>
          <p:cNvPr id="16" name="Shape 13"/>
          <p:cNvSpPr/>
          <p:nvPr/>
        </p:nvSpPr>
        <p:spPr>
          <a:xfrm>
            <a:off x="812800" y="2937421"/>
            <a:ext cx="3386634" cy="0"/>
          </a:xfrm>
          <a:prstGeom prst="line">
            <a:avLst/>
          </a:prstGeom>
          <a:noFill/>
          <a:ln w="12700">
            <a:solidFill>
              <a:srgbClr val="3A5272"/>
            </a:solidFill>
            <a:prstDash val="solid"/>
          </a:ln>
        </p:spPr>
        <p:txBody>
          <a:bodyPr/>
          <a:lstStyle/>
          <a:p>
            <a:endParaRPr lang="en-US"/>
          </a:p>
        </p:txBody>
      </p:sp>
      <p:sp>
        <p:nvSpPr>
          <p:cNvPr id="17" name="Text 14"/>
          <p:cNvSpPr/>
          <p:nvPr/>
        </p:nvSpPr>
        <p:spPr>
          <a:xfrm>
            <a:off x="812800" y="3096171"/>
            <a:ext cx="34882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4EC"/>
                </a:solidFill>
                <a:latin typeface="Public Sans" pitchFamily="34" charset="0"/>
                <a:ea typeface="Public Sans" pitchFamily="34" charset="-122"/>
                <a:cs typeface="Public Sans" pitchFamily="34" charset="-120"/>
              </a:rPr>
              <a:t>Dominique Copes</a:t>
            </a:r>
            <a:endParaRPr lang="en-US" sz="1700" dirty="0"/>
          </a:p>
        </p:txBody>
      </p:sp>
      <p:sp>
        <p:nvSpPr>
          <p:cNvPr id="18" name="Text 15"/>
          <p:cNvSpPr/>
          <p:nvPr/>
        </p:nvSpPr>
        <p:spPr>
          <a:xfrm>
            <a:off x="812800" y="3406031"/>
            <a:ext cx="348823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0"/>
                </a:solidFill>
                <a:latin typeface="Public Sans" pitchFamily="34" charset="0"/>
                <a:ea typeface="Public Sans" pitchFamily="34" charset="-122"/>
                <a:cs typeface="Public Sans" pitchFamily="34" charset="-120"/>
              </a:rPr>
              <a:t>Data scraping and human evaluation of responses</a:t>
            </a:r>
            <a:endParaRPr lang="en-US" sz="1300" dirty="0"/>
          </a:p>
        </p:txBody>
      </p:sp>
      <p:sp>
        <p:nvSpPr>
          <p:cNvPr id="19" name="Shape 16"/>
          <p:cNvSpPr/>
          <p:nvPr/>
        </p:nvSpPr>
        <p:spPr>
          <a:xfrm>
            <a:off x="4402634" y="2937421"/>
            <a:ext cx="3386683" cy="0"/>
          </a:xfrm>
          <a:prstGeom prst="line">
            <a:avLst/>
          </a:prstGeom>
          <a:noFill/>
          <a:ln w="12700">
            <a:solidFill>
              <a:srgbClr val="3A5272"/>
            </a:solidFill>
            <a:prstDash val="solid"/>
          </a:ln>
        </p:spPr>
        <p:txBody>
          <a:bodyPr/>
          <a:lstStyle/>
          <a:p>
            <a:endParaRPr lang="en-US"/>
          </a:p>
        </p:txBody>
      </p:sp>
      <p:sp>
        <p:nvSpPr>
          <p:cNvPr id="20" name="Text 17"/>
          <p:cNvSpPr/>
          <p:nvPr/>
        </p:nvSpPr>
        <p:spPr>
          <a:xfrm>
            <a:off x="4402634" y="3096171"/>
            <a:ext cx="348828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4EC"/>
                </a:solidFill>
                <a:latin typeface="Public Sans" pitchFamily="34" charset="0"/>
                <a:ea typeface="Public Sans" pitchFamily="34" charset="-122"/>
                <a:cs typeface="Public Sans" pitchFamily="34" charset="-120"/>
              </a:rPr>
              <a:t>Tate Buffington</a:t>
            </a:r>
            <a:endParaRPr lang="en-US" sz="1700" dirty="0"/>
          </a:p>
        </p:txBody>
      </p:sp>
      <p:sp>
        <p:nvSpPr>
          <p:cNvPr id="21" name="Text 18"/>
          <p:cNvSpPr/>
          <p:nvPr/>
        </p:nvSpPr>
        <p:spPr>
          <a:xfrm>
            <a:off x="4402634" y="3406031"/>
            <a:ext cx="348828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0"/>
                </a:solidFill>
                <a:latin typeface="Public Sans" pitchFamily="34" charset="0"/>
                <a:ea typeface="Public Sans" pitchFamily="34" charset="-122"/>
                <a:cs typeface="Public Sans" pitchFamily="34" charset="-120"/>
              </a:rPr>
              <a:t>Data scraping and agent design support</a:t>
            </a:r>
            <a:endParaRPr lang="en-US" sz="1300" dirty="0"/>
          </a:p>
        </p:txBody>
      </p:sp>
      <p:sp>
        <p:nvSpPr>
          <p:cNvPr id="22" name="Text 19"/>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Public Sans" pitchFamily="34" charset="0"/>
                <a:ea typeface="Public Sans" pitchFamily="34" charset="-122"/>
                <a:cs typeface="Public Sans" pitchFamily="34" charset="-120"/>
              </a:rPr>
              <a:t>USMC SI Innovation Sprint · Dudley Knox Library, NPS · October 26–29, 2026</a:t>
            </a:r>
            <a:endParaRPr lang="en-US" sz="1200" dirty="0"/>
          </a:p>
        </p:txBody>
      </p:sp>
    </p:spTree>
  </p:cSld>
  <p:clrMapOvr>
    <a:masterClrMapping/>
  </p:clrMapOvr>
</p:sld>
</file>

<file path=ppt/theme/theme1.xml><?xml version="1.0" encoding="utf-8"?>
<a:theme xmlns:a="http://schemas.openxmlformats.org/drawingml/2006/main" name="Semper SI — Transition Brief">
  <a:themeElements>
    <a:clrScheme name="Semper SI — Transition Brief">
      <a:dk1>
        <a:srgbClr val="0C2340"/>
      </a:dk1>
      <a:lt1>
        <a:srgbClr val="F7F4EC"/>
      </a:lt1>
      <a:dk2>
        <a:srgbClr val="47576B"/>
      </a:dk2>
      <a:lt2>
        <a:srgbClr val="E0DFDB"/>
      </a:lt2>
      <a:accent1>
        <a:srgbClr val="C81E38"/>
      </a:accent1>
      <a:accent2>
        <a:srgbClr val="F5A524"/>
      </a:accent2>
      <a:accent3>
        <a:srgbClr val="FFE08A"/>
      </a:accent3>
      <a:accent4>
        <a:srgbClr val="5A6676"/>
      </a:accent4>
      <a:accent5>
        <a:srgbClr val="3D4B5C"/>
      </a:accent5>
      <a:accent6>
        <a:srgbClr val="C9D3E0"/>
      </a:accent6>
      <a:hlink>
        <a:srgbClr val="0563C1"/>
      </a:hlink>
      <a:folHlink>
        <a:srgbClr val="954F72"/>
      </a:folHlink>
    </a:clrScheme>
    <a:fontScheme name="Semper SI — Transition Brief">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1920</Words>
  <Application>Microsoft Office PowerPoint</Application>
  <PresentationFormat>Widescreen</PresentationFormat>
  <Paragraphs>255</Paragraphs>
  <Slides>16</Slides>
  <Notes>15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Oswald</vt:lpstr>
      <vt:lpstr>Public Sans</vt:lpstr>
      <vt:lpstr>Arial</vt:lpstr>
      <vt:lpstr>Semper SI — Transition Brief</vt:lpstr>
      <vt:lpstr>PowerPoint Presentation</vt:lpstr>
      <vt:lpstr>PowerPoint Presentation</vt:lpstr>
      <vt:lpstr>New families can’t easily find what their installation offers</vt:lpstr>
      <vt:lpstr>A low-code assistant that answers from official MCCS pages and always gives a next step</vt:lpstr>
      <vt:lpstr>All six MCCS journeys, tested across installations</vt:lpstr>
      <vt:lpstr>Five rules keep every answer grounded</vt:lpstr>
      <vt:lpstr>One prompt, two synchronized builds</vt:lpstr>
      <vt:lpstr>The assistant, live on an MCCS installation site</vt:lpstr>
      <vt:lpstr>Argon gets the details right; Flash is faster but errs 2.6× as often</vt:lpstr>
      <vt:lpstr>The v2 prompt fixed what the tests found</vt:lpstr>
      <vt:lpstr>Crisis resources come first, before any question, at home or overseas</vt:lpstr>
      <vt:lpstr>Moving to GovCloud changes configuration, not behavior</vt:lpstr>
      <vt:lpstr>Four phases to MCCS deployment, each behind a gate</vt:lpstr>
      <vt:lpstr>What MCCS provides, what the team delivers</vt:lpstr>
      <vt:lpstr>Wrong specifics remain the top risk; data, not prompts, closes it</vt:lpstr>
      <vt:lpstr>Build, mirror, test, fix, approve, repeat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Semper SI — Transition Brief</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Joshua Cox</cp:lastModifiedBy>
  <cp:revision>1</cp:revision>
  <dcterms:created xsi:type="dcterms:W3CDTF">2026-10-28T21:53:08Z</dcterms:created>
  <dcterms:modified xsi:type="dcterms:W3CDTF">2026-10-28T21:57:18Z</dcterms:modified>
</cp:coreProperties>
</file>